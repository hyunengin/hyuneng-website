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2" r:id="rId2"/>
    <p:sldId id="256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93" r:id="rId11"/>
    <p:sldId id="266" r:id="rId12"/>
    <p:sldId id="267" r:id="rId13"/>
    <p:sldId id="268" r:id="rId14"/>
    <p:sldId id="269" r:id="rId15"/>
    <p:sldId id="272" r:id="rId16"/>
    <p:sldId id="273" r:id="rId17"/>
    <p:sldId id="285" r:id="rId18"/>
    <p:sldId id="286" r:id="rId19"/>
    <p:sldId id="287" r:id="rId20"/>
    <p:sldId id="278" r:id="rId21"/>
    <p:sldId id="288" r:id="rId22"/>
    <p:sldId id="289" r:id="rId23"/>
    <p:sldId id="290" r:id="rId24"/>
    <p:sldId id="291" r:id="rId25"/>
    <p:sldId id="28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C4E4"/>
    <a:srgbClr val="3676B7"/>
    <a:srgbClr val="FFFFFF"/>
    <a:srgbClr val="0C356E"/>
    <a:srgbClr val="0C35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 autoAdjust="0"/>
    <p:restoredTop sz="94591" autoAdjust="0"/>
  </p:normalViewPr>
  <p:slideViewPr>
    <p:cSldViewPr snapToGrid="0">
      <p:cViewPr varScale="1">
        <p:scale>
          <a:sx n="97" d="100"/>
          <a:sy n="97" d="100"/>
        </p:scale>
        <p:origin x="11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1EA7E-BB04-481D-9C79-8A1B8D3E931E}" type="datetimeFigureOut">
              <a:rPr lang="ko-KR" altLang="en-US" smtClean="0"/>
              <a:t>2026-06-05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C83AE-FC48-4505-BC94-427D103784F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845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FC83AE-FC48-4505-BC94-427D103784F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84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565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B39F6-B7A9-8412-5767-3A9A2D5C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1D8F-E01A-443B-A95F-F84FBA10349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923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D415D-19FC-02B2-7001-C5716E599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D9EAED-B494-0E42-D112-248B5852F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C284B7-2282-D7D5-C708-C99B0DF71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3299-2B76-49D7-BC39-324E62A2C851}" type="datetimeFigureOut">
              <a:rPr lang="ko-KR" altLang="en-US" smtClean="0"/>
              <a:t>2026-06-05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AA90B-926A-4D87-7827-78F2B58A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15B6D8-FB30-37A2-32A3-B2DF48EA4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1D8F-E01A-443B-A95F-F84FBA10349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943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3558C-E9BF-D681-3395-67D4DA29C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A83480-1F2E-E7D8-1E7C-930DFD1FE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8EA30B-3D02-039B-7A8B-FB92B603B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EFD830-E358-1214-3E8C-818D0B13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3299-2B76-49D7-BC39-324E62A2C851}" type="datetimeFigureOut">
              <a:rPr lang="ko-KR" altLang="en-US" smtClean="0"/>
              <a:t>2026-06-05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FDFAB3-6924-96FB-E05C-7F705E7C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952B4F-505C-633E-485B-EDE1DBB54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1D8F-E01A-443B-A95F-F84FBA10349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1948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72052-7579-2CE0-1615-6FCA86B62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BA2B1A-F792-2705-4138-F45A6AAEC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70224E-A44C-AEF1-D0AA-16E757AB0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B6742A-92D0-D9F4-A4F2-50EC87156F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CB029E-B42C-4654-D0FB-C3433DE3B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A6CEAC-1896-6641-F22C-3DA822ACA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3299-2B76-49D7-BC39-324E62A2C851}" type="datetimeFigureOut">
              <a:rPr lang="ko-KR" altLang="en-US" smtClean="0"/>
              <a:t>2026-06-05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E306A2-1FA5-DB33-EECE-2A717829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608D11-949E-AEAD-5BEB-76D1DA96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1D8F-E01A-443B-A95F-F84FBA10349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88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22056-1C48-514C-7432-FE4C9B059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28C341-78E7-27E5-6514-3ED0B2E45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3299-2B76-49D7-BC39-324E62A2C851}" type="datetimeFigureOut">
              <a:rPr lang="ko-KR" altLang="en-US" smtClean="0"/>
              <a:t>2026-06-05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1DFCBA-26FB-C1E0-008C-B5D44D92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C6D346-2824-4592-F7B0-9A6FEAD5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1D8F-E01A-443B-A95F-F84FBA10349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3725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4F5CBCE-3E98-F964-015B-69429383F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3299-2B76-49D7-BC39-324E62A2C851}" type="datetimeFigureOut">
              <a:rPr lang="ko-KR" altLang="en-US" smtClean="0"/>
              <a:t>2026-06-05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46BC70-9D6B-FCB2-50F2-31C5F0E64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9F2CAF-F518-C90A-98C4-E6BCA4AF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1D8F-E01A-443B-A95F-F84FBA10349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536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87332-1D14-030B-EEFC-37B9A6B37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E0ED74-F613-D127-6DE3-5C62510C0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494AE6-9D40-162B-CB97-B8C2F5C47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0654B8-F261-1360-7D62-447830675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3299-2B76-49D7-BC39-324E62A2C851}" type="datetimeFigureOut">
              <a:rPr lang="ko-KR" altLang="en-US" smtClean="0"/>
              <a:t>2026-06-05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6E21C-CE75-EEFF-A30A-F5D064BC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4087EE-3B83-ED9C-823F-8253089F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1D8F-E01A-443B-A95F-F84FBA10349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071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96E77-64AF-A962-E47F-BA3718ED8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A7CC00-AC38-75AC-408B-EB90F64AC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C673E4-C88B-5BE0-BDF6-0FC5E1941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4D0585-CAE1-30C2-ED93-64BD9502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3299-2B76-49D7-BC39-324E62A2C851}" type="datetimeFigureOut">
              <a:rPr lang="ko-KR" altLang="en-US" smtClean="0"/>
              <a:t>2026-06-05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032025-47B9-91BE-A6EF-934104B5E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F5C1D0-927C-C5C6-D8B2-EAFF1C7D2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1D8F-E01A-443B-A95F-F84FBA10349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826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3E737-42C8-9E39-7B75-399B264F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208E51-9332-6077-F549-4CF45BF3D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2CE5D3-D8BB-000C-ED86-4FE54BE08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3299-2B76-49D7-BC39-324E62A2C851}" type="datetimeFigureOut">
              <a:rPr lang="ko-KR" altLang="en-US" smtClean="0"/>
              <a:t>2026-06-05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414376-D9AD-9F30-9F7C-2FC1E732D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E79F80-9F2D-E7C7-7DF6-D81E4EC0A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1D8F-E01A-443B-A95F-F84FBA10349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614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2BD95D6-DEAD-F7DA-1221-3697A2DBD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6CB86F-4645-0880-4BCA-322A98AB3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65CF78-6EAB-BD3B-6A64-F39B0C23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3299-2B76-49D7-BC39-324E62A2C851}" type="datetimeFigureOut">
              <a:rPr lang="ko-KR" altLang="en-US" smtClean="0"/>
              <a:t>2026-06-05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52BFD8-DF7C-5CB8-055F-3F4EF3769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3A4111-3F04-2DDE-1D92-42EBE9A5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1D8F-E01A-443B-A95F-F84FBA10349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1931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5F3E44-F8B5-9C6F-713E-07ADC9877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8EDCE3-A08A-BF66-A438-D596C3780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0ED62-40DD-E197-48E1-F6AF89673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13299-2B76-49D7-BC39-324E62A2C851}" type="datetimeFigureOut">
              <a:rPr lang="ko-KR" altLang="en-US" smtClean="0"/>
              <a:t>2026-06-05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A37FA-5E59-DF2A-6590-B5096B64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73D313-7790-21E9-3261-D709B94AF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E1D8F-E01A-443B-A95F-F84FBA103490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128B9E-B8D8-5197-8428-221D0C7CCE9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9140" y="6439409"/>
            <a:ext cx="583720" cy="28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8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hyuneng002@naver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5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emf"/><Relationship Id="rId7" Type="http://schemas.openxmlformats.org/officeDocument/2006/relationships/image" Target="../media/image2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0.emf"/><Relationship Id="rId10" Type="http://schemas.openxmlformats.org/officeDocument/2006/relationships/image" Target="../media/image24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mailto:hyuneng002@naver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0ACD-2BE9-22BC-AB6C-B02B7BAE7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9E32C1E-0F1E-8C73-D2F5-1B4F205B2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9" t="10448" r="9701" b="16418"/>
          <a:stretch>
            <a:fillRect/>
          </a:stretch>
        </p:blipFill>
        <p:spPr>
          <a:xfrm>
            <a:off x="1233072" y="1715118"/>
            <a:ext cx="2334456" cy="20797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86204F-E3E4-59B8-37EC-E3CB246FEC94}"/>
              </a:ext>
            </a:extLst>
          </p:cNvPr>
          <p:cNvSpPr txBox="1"/>
          <p:nvPr/>
        </p:nvSpPr>
        <p:spPr>
          <a:xfrm>
            <a:off x="3567528" y="259457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/>
              <a:t>㈜현구조엔지니어링 </a:t>
            </a:r>
            <a:endParaRPr lang="en-US" altLang="ko-KR" sz="3600" b="1" dirty="0"/>
          </a:p>
          <a:p>
            <a:r>
              <a:rPr lang="ko-KR" altLang="en-US" sz="3600" b="1" dirty="0"/>
              <a:t>홈페이지 제작 기획</a:t>
            </a:r>
          </a:p>
        </p:txBody>
      </p:sp>
    </p:spTree>
    <p:extLst>
      <p:ext uri="{BB962C8B-B14F-4D97-AF65-F5344CB8AC3E}">
        <p14:creationId xmlns:p14="http://schemas.microsoft.com/office/powerpoint/2010/main" val="383210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FAA098-37F4-586D-F923-99611B057D16}"/>
              </a:ext>
            </a:extLst>
          </p:cNvPr>
          <p:cNvSpPr txBox="1"/>
          <p:nvPr/>
        </p:nvSpPr>
        <p:spPr>
          <a:xfrm>
            <a:off x="318654" y="741281"/>
            <a:ext cx="6696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㈜현구조엔지니어링 홈페이지 제작 기획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71961-E858-28E3-9C2A-C82629DD800E}"/>
              </a:ext>
            </a:extLst>
          </p:cNvPr>
          <p:cNvSpPr txBox="1"/>
          <p:nvPr/>
        </p:nvSpPr>
        <p:spPr>
          <a:xfrm>
            <a:off x="1459345" y="1597891"/>
            <a:ext cx="58558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# </a:t>
            </a:r>
            <a:r>
              <a:rPr lang="ko-KR" altLang="en-US" sz="1400" b="1" dirty="0" err="1"/>
              <a:t>제작시</a:t>
            </a:r>
            <a:r>
              <a:rPr lang="ko-KR" altLang="en-US" sz="1400" b="1" dirty="0"/>
              <a:t> 참고사항</a:t>
            </a:r>
            <a:endParaRPr lang="en-US" altLang="ko-KR" sz="1400" b="1" dirty="0"/>
          </a:p>
          <a:p>
            <a:endParaRPr lang="en-US" altLang="ko-KR" sz="1400" dirty="0"/>
          </a:p>
          <a:p>
            <a:r>
              <a:rPr lang="en-US" altLang="ko-KR" sz="1400" dirty="0"/>
              <a:t>1. </a:t>
            </a:r>
            <a:r>
              <a:rPr lang="ko-KR" altLang="en-US" sz="1400" dirty="0"/>
              <a:t>전반적으로 로고색을 활용한 </a:t>
            </a:r>
            <a:r>
              <a:rPr lang="ko-KR" altLang="en-US" sz="1400" dirty="0" err="1"/>
              <a:t>블루톤</a:t>
            </a:r>
            <a:r>
              <a:rPr lang="ko-KR" altLang="en-US" sz="1400" dirty="0"/>
              <a:t> 사용</a:t>
            </a:r>
            <a:endParaRPr lang="en-US" altLang="ko-KR" sz="1400" dirty="0"/>
          </a:p>
          <a:p>
            <a:r>
              <a:rPr lang="ko-KR" altLang="en-US" sz="1400" dirty="0"/>
              <a:t>→ 기준 컬러 차트</a:t>
            </a:r>
            <a:r>
              <a:rPr lang="en-US" altLang="ko-KR" sz="1400" dirty="0"/>
              <a:t>(#3676B7, #0C356E)</a:t>
            </a:r>
          </a:p>
          <a:p>
            <a:pPr marL="342900" indent="-342900">
              <a:buAutoNum type="arabicPeriod"/>
            </a:pP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92FFEE-A2E8-2660-120C-0623C60B5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525" y="2514600"/>
            <a:ext cx="552450" cy="55245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8ACCDF3-47D3-7799-28E9-B9002589DBC9}"/>
              </a:ext>
            </a:extLst>
          </p:cNvPr>
          <p:cNvSpPr/>
          <p:nvPr/>
        </p:nvSpPr>
        <p:spPr>
          <a:xfrm>
            <a:off x="1800225" y="2548367"/>
            <a:ext cx="438150" cy="438150"/>
          </a:xfrm>
          <a:prstGeom prst="rect">
            <a:avLst/>
          </a:prstGeom>
          <a:solidFill>
            <a:srgbClr val="3676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E3CFB1-EEBE-8899-1A08-6E68460578F3}"/>
              </a:ext>
            </a:extLst>
          </p:cNvPr>
          <p:cNvSpPr/>
          <p:nvPr/>
        </p:nvSpPr>
        <p:spPr>
          <a:xfrm>
            <a:off x="2238375" y="2548367"/>
            <a:ext cx="438150" cy="438150"/>
          </a:xfrm>
          <a:prstGeom prst="rect">
            <a:avLst/>
          </a:prstGeom>
          <a:solidFill>
            <a:srgbClr val="0C35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1C7B9D-94AC-0DE6-C13B-DEC273D846EB}"/>
              </a:ext>
            </a:extLst>
          </p:cNvPr>
          <p:cNvSpPr txBox="1"/>
          <p:nvPr/>
        </p:nvSpPr>
        <p:spPr>
          <a:xfrm>
            <a:off x="1459345" y="3206175"/>
            <a:ext cx="5855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2. </a:t>
            </a:r>
            <a:r>
              <a:rPr lang="ko-KR" altLang="en-US" sz="1400" dirty="0"/>
              <a:t>모던하면서도 안정감과 신뢰감이 느껴지는 이미지</a:t>
            </a: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6309DA-E490-3D8B-4E91-53A7B506C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225" y="3652401"/>
            <a:ext cx="2438400" cy="115503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172755B-33BC-0595-3923-4080384C0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3652862"/>
            <a:ext cx="2362200" cy="115411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4346D52-387A-0A77-896D-1DDE7835FA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175" y="3652401"/>
            <a:ext cx="2063296" cy="11550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818ED9-D061-A0AD-A168-839DF23EDAC6}"/>
              </a:ext>
            </a:extLst>
          </p:cNvPr>
          <p:cNvSpPr txBox="1"/>
          <p:nvPr/>
        </p:nvSpPr>
        <p:spPr>
          <a:xfrm>
            <a:off x="1459345" y="4952332"/>
            <a:ext cx="10182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3. ADMIN </a:t>
            </a:r>
            <a:r>
              <a:rPr lang="ko-KR" altLang="en-US" sz="1400" dirty="0"/>
              <a:t>계정 및 페이지로 간단한 수정 작업 등 가능하게 세팅</a:t>
            </a:r>
            <a:r>
              <a:rPr lang="en-US" altLang="ko-KR" sz="1400" dirty="0"/>
              <a:t>(</a:t>
            </a:r>
            <a:r>
              <a:rPr lang="ko-KR" altLang="en-US" sz="1400" dirty="0"/>
              <a:t>간단한 연혁</a:t>
            </a:r>
            <a:r>
              <a:rPr lang="en-US" altLang="ko-KR" sz="1400" dirty="0"/>
              <a:t>,</a:t>
            </a:r>
            <a:r>
              <a:rPr lang="ko-KR" altLang="en-US" sz="1400" dirty="0"/>
              <a:t> 등록증</a:t>
            </a:r>
            <a:r>
              <a:rPr lang="en-US" altLang="ko-KR" sz="1400" dirty="0"/>
              <a:t>, </a:t>
            </a:r>
            <a:r>
              <a:rPr lang="ko-KR" altLang="en-US" sz="1400" dirty="0"/>
              <a:t>사업 세부내용</a:t>
            </a:r>
            <a:r>
              <a:rPr lang="en-US" altLang="ko-KR" sz="1400" dirty="0"/>
              <a:t>, </a:t>
            </a:r>
            <a:r>
              <a:rPr lang="ko-KR" altLang="en-US" sz="1400" dirty="0"/>
              <a:t>실적 등 업데이트용</a:t>
            </a:r>
            <a:r>
              <a:rPr lang="en-US" altLang="ko-KR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5161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33CF-B7D7-49A6-DD2D-F0DAB7241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5AFE68-7822-6B36-B288-4FB6A56AFDA8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6A35F3-639F-0D44-A144-B7469A61975F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Ref</a:t>
            </a:r>
            <a:endParaRPr lang="ko-KR" altLang="en-US" sz="12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33F0D84-1D9C-2885-9FD2-A141BAB2D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20" y="1129488"/>
            <a:ext cx="2660072" cy="15694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34DC55-406C-1139-04FA-E41027DD5EF3}"/>
              </a:ext>
            </a:extLst>
          </p:cNvPr>
          <p:cNvSpPr txBox="1"/>
          <p:nvPr/>
        </p:nvSpPr>
        <p:spPr>
          <a:xfrm>
            <a:off x="3205020" y="2698984"/>
            <a:ext cx="10711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/>
              <a:t>http://www.hsgj.co.kr/</a:t>
            </a:r>
            <a:endParaRPr lang="ko-KR" altLang="en-US" sz="7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8A0FA15-0BFF-304B-9565-C3BE220611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44"/>
          <a:stretch>
            <a:fillRect/>
          </a:stretch>
        </p:blipFill>
        <p:spPr>
          <a:xfrm>
            <a:off x="6185337" y="1129488"/>
            <a:ext cx="2813908" cy="1502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820F62-8952-8A7D-F603-E896539832B4}"/>
              </a:ext>
            </a:extLst>
          </p:cNvPr>
          <p:cNvSpPr txBox="1"/>
          <p:nvPr/>
        </p:nvSpPr>
        <p:spPr>
          <a:xfrm>
            <a:off x="6185337" y="2698984"/>
            <a:ext cx="215796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/>
              <a:t>http://www.hanbeck.net/2019/pc/main/main.php</a:t>
            </a:r>
            <a:endParaRPr lang="ko-KR" altLang="en-US" sz="7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A005791-B73F-EA93-6F69-004E5F690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020" y="3808315"/>
            <a:ext cx="2746154" cy="13204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0F077A-9E0F-5556-8EB3-3F4DF62D2320}"/>
              </a:ext>
            </a:extLst>
          </p:cNvPr>
          <p:cNvSpPr txBox="1"/>
          <p:nvPr/>
        </p:nvSpPr>
        <p:spPr>
          <a:xfrm>
            <a:off x="3205020" y="5377811"/>
            <a:ext cx="12891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/>
              <a:t>https://jinengineering.com/</a:t>
            </a:r>
            <a:endParaRPr lang="ko-KR" altLang="en-US" sz="7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3635B17-0550-7377-856B-D50441FEB9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042" y="3810860"/>
            <a:ext cx="2660072" cy="15334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F64DA2B-590E-69C8-05D1-26F197DB274C}"/>
              </a:ext>
            </a:extLst>
          </p:cNvPr>
          <p:cNvSpPr txBox="1"/>
          <p:nvPr/>
        </p:nvSpPr>
        <p:spPr>
          <a:xfrm>
            <a:off x="6167042" y="5435882"/>
            <a:ext cx="12426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/>
              <a:t>https://www.imbosu.co.kr/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96629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08FD-F736-A924-6171-469D2ECE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CEB667-19B1-46AF-EBFE-F704081C74AB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7562DC-9683-F220-0B83-46C65EA0CDFB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 err="1"/>
              <a:t>메인화면</a:t>
            </a:r>
            <a:endParaRPr lang="ko-KR" altLang="en-US" sz="12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32579B-3F7C-1A0E-E74A-94DD477F6930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5CB737-D9AB-6238-C547-30A477E85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91" y="1216800"/>
            <a:ext cx="411018" cy="411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ADCF36-FD51-0648-BCB7-426117303D0C}"/>
              </a:ext>
            </a:extLst>
          </p:cNvPr>
          <p:cNvSpPr txBox="1"/>
          <p:nvPr/>
        </p:nvSpPr>
        <p:spPr>
          <a:xfrm>
            <a:off x="678872" y="123764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현구조엔지니어링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59E9BC-8723-60D0-F44E-793446150188}"/>
              </a:ext>
            </a:extLst>
          </p:cNvPr>
          <p:cNvSpPr/>
          <p:nvPr/>
        </p:nvSpPr>
        <p:spPr>
          <a:xfrm>
            <a:off x="447675" y="2200275"/>
            <a:ext cx="11305223" cy="35770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건설 공사 사진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안전진단 수행 사진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회사 로고 등 슬라이드</a:t>
            </a:r>
            <a:endParaRPr lang="en-US" altLang="ko-KR" dirty="0">
              <a:solidFill>
                <a:schemeClr val="tx1"/>
              </a:solidFill>
            </a:endParaRP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전체적으로 </a:t>
            </a:r>
            <a:r>
              <a:rPr lang="ko-KR" altLang="en-US" dirty="0" err="1">
                <a:solidFill>
                  <a:schemeClr val="tx1"/>
                </a:solidFill>
              </a:rPr>
              <a:t>블루톤과</a:t>
            </a:r>
            <a:r>
              <a:rPr lang="ko-KR" altLang="en-US" dirty="0">
                <a:solidFill>
                  <a:schemeClr val="tx1"/>
                </a:solidFill>
              </a:rPr>
              <a:t> 크게 어긋나지 않는 색감 사용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카피 기재</a:t>
            </a:r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2DF88E-B9D0-7406-A066-C13F444FEF7A}"/>
              </a:ext>
            </a:extLst>
          </p:cNvPr>
          <p:cNvSpPr/>
          <p:nvPr/>
        </p:nvSpPr>
        <p:spPr>
          <a:xfrm>
            <a:off x="447675" y="2202068"/>
            <a:ext cx="11296650" cy="3577070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000" dirty="0"/>
              <a:t>정확한 판단</a:t>
            </a:r>
            <a:r>
              <a:rPr lang="en-US" altLang="ko-KR" sz="4000" dirty="0"/>
              <a:t>,</a:t>
            </a:r>
          </a:p>
          <a:p>
            <a:r>
              <a:rPr lang="ko-KR" altLang="en-US" sz="4000" dirty="0"/>
              <a:t>안전한 구조</a:t>
            </a:r>
            <a:r>
              <a:rPr lang="en-US" altLang="ko-KR" sz="4000" dirty="0"/>
              <a:t>,</a:t>
            </a:r>
          </a:p>
          <a:p>
            <a:r>
              <a:rPr lang="ko-KR" altLang="en-US" sz="4000" dirty="0"/>
              <a:t>신뢰받는 기술</a:t>
            </a:r>
            <a:endParaRPr lang="en-US" altLang="ko-KR" sz="4000" dirty="0"/>
          </a:p>
          <a:p>
            <a:endParaRPr lang="en-US" altLang="ko-KR" sz="4000" dirty="0"/>
          </a:p>
          <a:p>
            <a:r>
              <a:rPr lang="en-US" altLang="ko-KR" sz="2000" dirty="0"/>
              <a:t>HYUN STRUCTURAL EGINEERING</a:t>
            </a:r>
            <a:endParaRPr lang="ko-KR" altLang="en-US" sz="36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89E3AA-7CCC-3605-42BA-9DEBC382A4FD}"/>
              </a:ext>
            </a:extLst>
          </p:cNvPr>
          <p:cNvSpPr/>
          <p:nvPr/>
        </p:nvSpPr>
        <p:spPr>
          <a:xfrm>
            <a:off x="5445557" y="684829"/>
            <a:ext cx="6880369" cy="765188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하단 스크롤</a:t>
            </a:r>
            <a:r>
              <a:rPr lang="en-US" altLang="ko-KR" sz="1200" dirty="0"/>
              <a:t>, </a:t>
            </a:r>
            <a:r>
              <a:rPr lang="ko-KR" altLang="en-US" sz="1200" dirty="0"/>
              <a:t>카테고리별 메뉴 이동시에도 항상 상단 고정 노출</a:t>
            </a:r>
            <a:endParaRPr lang="en-US" altLang="ko-KR" sz="12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41728C5-027A-5A51-2225-A9167621F813}"/>
              </a:ext>
            </a:extLst>
          </p:cNvPr>
          <p:cNvSpPr/>
          <p:nvPr/>
        </p:nvSpPr>
        <p:spPr>
          <a:xfrm>
            <a:off x="6818270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회사소개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3F6D4E0-B182-E6F5-360D-79C9EDA94C8B}"/>
              </a:ext>
            </a:extLst>
          </p:cNvPr>
          <p:cNvSpPr/>
          <p:nvPr/>
        </p:nvSpPr>
        <p:spPr>
          <a:xfrm>
            <a:off x="8160696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사업분야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630301E-B6FE-A8B7-8502-CBD0231BCEB8}"/>
              </a:ext>
            </a:extLst>
          </p:cNvPr>
          <p:cNvSpPr/>
          <p:nvPr/>
        </p:nvSpPr>
        <p:spPr>
          <a:xfrm>
            <a:off x="9503122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사업실적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BDA7B30-0AF1-2D88-C5B0-AFF26DD3BC90}"/>
              </a:ext>
            </a:extLst>
          </p:cNvPr>
          <p:cNvSpPr/>
          <p:nvPr/>
        </p:nvSpPr>
        <p:spPr>
          <a:xfrm>
            <a:off x="10809922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견적문의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52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9714-B1DD-38D4-727D-9CAEE7D65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DA6A4C-3230-B83B-0B87-3896F85AE114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1256C-535F-7875-901E-0CCF73A8014E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 err="1"/>
              <a:t>메인화면</a:t>
            </a:r>
            <a:r>
              <a:rPr lang="en-US" altLang="ko-KR" sz="1200" b="1" dirty="0"/>
              <a:t> – </a:t>
            </a:r>
            <a:r>
              <a:rPr lang="ko-KR" altLang="en-US" sz="1200" b="1" dirty="0"/>
              <a:t>스크롤</a:t>
            </a:r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E92FBA-B775-A8CD-9D1E-53939A5F68AA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FDFB8F-8726-3951-68F6-CABE98B52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91" y="1216800"/>
            <a:ext cx="411018" cy="411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1ADE41-8C89-EAE2-18CD-D08FD031B4F0}"/>
              </a:ext>
            </a:extLst>
          </p:cNvPr>
          <p:cNvSpPr txBox="1"/>
          <p:nvPr/>
        </p:nvSpPr>
        <p:spPr>
          <a:xfrm>
            <a:off x="678872" y="123764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현구조엔지니어링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7BF7B1E-ADF1-7931-6364-E9F2B5C681D0}"/>
              </a:ext>
            </a:extLst>
          </p:cNvPr>
          <p:cNvSpPr/>
          <p:nvPr/>
        </p:nvSpPr>
        <p:spPr>
          <a:xfrm>
            <a:off x="6818270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회사소개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92D9766-C0A3-F668-7103-508E3C590EB0}"/>
              </a:ext>
            </a:extLst>
          </p:cNvPr>
          <p:cNvSpPr/>
          <p:nvPr/>
        </p:nvSpPr>
        <p:spPr>
          <a:xfrm>
            <a:off x="8160696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사업분야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1B0E20A-F182-D5F4-CAD9-46ECA47F9827}"/>
              </a:ext>
            </a:extLst>
          </p:cNvPr>
          <p:cNvSpPr/>
          <p:nvPr/>
        </p:nvSpPr>
        <p:spPr>
          <a:xfrm>
            <a:off x="9503122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사업실적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C9B05A7-74CD-4B7B-9BD4-EDA345DF415A}"/>
              </a:ext>
            </a:extLst>
          </p:cNvPr>
          <p:cNvSpPr/>
          <p:nvPr/>
        </p:nvSpPr>
        <p:spPr>
          <a:xfrm>
            <a:off x="10809922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견적문의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AC3557D-14F6-1B53-F196-FEC54406A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1220" y="186256"/>
            <a:ext cx="1350780" cy="6472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2C0D99A-A38E-F582-B61D-76888EC3520E}"/>
              </a:ext>
            </a:extLst>
          </p:cNvPr>
          <p:cNvSpPr txBox="1"/>
          <p:nvPr/>
        </p:nvSpPr>
        <p:spPr>
          <a:xfrm>
            <a:off x="10305307" y="142651"/>
            <a:ext cx="587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 Ref</a:t>
            </a:r>
            <a:endParaRPr lang="ko-KR" altLang="en-US" sz="1000" b="1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845DF8C-B3E6-FF67-A97C-18FF8AE13469}"/>
              </a:ext>
            </a:extLst>
          </p:cNvPr>
          <p:cNvSpPr/>
          <p:nvPr/>
        </p:nvSpPr>
        <p:spPr>
          <a:xfrm>
            <a:off x="1680795" y="3335122"/>
            <a:ext cx="2106765" cy="264657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안전진단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전문기관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F043715-E22A-4021-9EAE-251BE53832D0}"/>
              </a:ext>
            </a:extLst>
          </p:cNvPr>
          <p:cNvSpPr/>
          <p:nvPr/>
        </p:nvSpPr>
        <p:spPr>
          <a:xfrm>
            <a:off x="3915981" y="3335122"/>
            <a:ext cx="2106765" cy="264657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법원감정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전문기관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96E6524-AD80-20B6-425C-AD8B9DC29886}"/>
              </a:ext>
            </a:extLst>
          </p:cNvPr>
          <p:cNvSpPr/>
          <p:nvPr/>
        </p:nvSpPr>
        <p:spPr>
          <a:xfrm>
            <a:off x="6151167" y="3335122"/>
            <a:ext cx="2106765" cy="264657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원가분석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전문기관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D6A1488-0F2C-ED5D-1F21-8D48A32CE422}"/>
              </a:ext>
            </a:extLst>
          </p:cNvPr>
          <p:cNvSpPr/>
          <p:nvPr/>
        </p:nvSpPr>
        <p:spPr>
          <a:xfrm>
            <a:off x="8386353" y="3335122"/>
            <a:ext cx="2106765" cy="264657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건축</a:t>
            </a:r>
            <a:r>
              <a:rPr lang="en-US" altLang="ko-KR" sz="1600" b="1" dirty="0">
                <a:solidFill>
                  <a:schemeClr val="tx1"/>
                </a:solidFill>
              </a:rPr>
              <a:t>·</a:t>
            </a:r>
            <a:r>
              <a:rPr lang="ko-KR" altLang="en-US" sz="1600" b="1" dirty="0">
                <a:solidFill>
                  <a:schemeClr val="tx1"/>
                </a:solidFill>
              </a:rPr>
              <a:t>토목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구조검토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해체계획서 작성</a:t>
            </a:r>
            <a:r>
              <a:rPr lang="en-US" altLang="ko-KR" sz="16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1/2 액자 23">
            <a:extLst>
              <a:ext uri="{FF2B5EF4-FFF2-40B4-BE49-F238E27FC236}">
                <a16:creationId xmlns:a16="http://schemas.microsoft.com/office/drawing/2014/main" id="{8F177FD6-2120-57FA-8A98-FF16090AF9C1}"/>
              </a:ext>
            </a:extLst>
          </p:cNvPr>
          <p:cNvSpPr/>
          <p:nvPr/>
        </p:nvSpPr>
        <p:spPr>
          <a:xfrm rot="18900000">
            <a:off x="475384" y="4070938"/>
            <a:ext cx="628650" cy="62865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1/2 액자 24">
            <a:extLst>
              <a:ext uri="{FF2B5EF4-FFF2-40B4-BE49-F238E27FC236}">
                <a16:creationId xmlns:a16="http://schemas.microsoft.com/office/drawing/2014/main" id="{C5651CD0-A842-751D-C284-3809CCD9493A}"/>
              </a:ext>
            </a:extLst>
          </p:cNvPr>
          <p:cNvSpPr/>
          <p:nvPr/>
        </p:nvSpPr>
        <p:spPr>
          <a:xfrm rot="8100000">
            <a:off x="11069880" y="4070938"/>
            <a:ext cx="628650" cy="62865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D29406D-A1EA-9F4D-D748-AF7269D8C3C6}"/>
              </a:ext>
            </a:extLst>
          </p:cNvPr>
          <p:cNvSpPr/>
          <p:nvPr/>
        </p:nvSpPr>
        <p:spPr>
          <a:xfrm>
            <a:off x="261919" y="3620901"/>
            <a:ext cx="1520598" cy="558614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 dirty="0"/>
              <a:t>자동 슬라이드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 err="1"/>
              <a:t>클릭시</a:t>
            </a:r>
            <a:r>
              <a:rPr lang="ko-KR" altLang="en-US" sz="1200" dirty="0"/>
              <a:t> 슬라이드</a:t>
            </a:r>
            <a:endParaRPr lang="en-US" altLang="ko-KR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2EF3F9-F06F-C661-CA74-59F8F3C1377F}"/>
              </a:ext>
            </a:extLst>
          </p:cNvPr>
          <p:cNvSpPr txBox="1"/>
          <p:nvPr/>
        </p:nvSpPr>
        <p:spPr>
          <a:xfrm>
            <a:off x="5130012" y="2320174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현구조엔지니어링</a:t>
            </a:r>
            <a:endParaRPr lang="en-US" altLang="ko-KR" b="1" dirty="0"/>
          </a:p>
          <a:p>
            <a:pPr algn="ctr"/>
            <a:r>
              <a:rPr lang="ko-KR" altLang="en-US" b="1" dirty="0"/>
              <a:t>사업분야</a:t>
            </a:r>
          </a:p>
        </p:txBody>
      </p:sp>
    </p:spTree>
    <p:extLst>
      <p:ext uri="{BB962C8B-B14F-4D97-AF65-F5344CB8AC3E}">
        <p14:creationId xmlns:p14="http://schemas.microsoft.com/office/powerpoint/2010/main" val="2881605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7992C-056B-F507-03FA-2DCBEEE60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901F9C-F59F-902B-F627-CCA95E34C1E2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F1747C-2815-13E2-BB7C-AF492D5B1546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 err="1"/>
              <a:t>메인화면</a:t>
            </a:r>
            <a:r>
              <a:rPr lang="en-US" altLang="ko-KR" sz="1200" b="1" dirty="0"/>
              <a:t>3 – </a:t>
            </a:r>
            <a:r>
              <a:rPr lang="ko-KR" altLang="en-US" sz="1200" b="1" dirty="0"/>
              <a:t>스크롤</a:t>
            </a:r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36B067-420A-6213-FDA7-32A1B8730F9B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0A9E1E-38D4-1124-E72C-E9DDD58B4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91" y="1216800"/>
            <a:ext cx="411018" cy="411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C25EE5-AFA6-FE3E-4C88-7AAF0A31D0DD}"/>
              </a:ext>
            </a:extLst>
          </p:cNvPr>
          <p:cNvSpPr txBox="1"/>
          <p:nvPr/>
        </p:nvSpPr>
        <p:spPr>
          <a:xfrm>
            <a:off x="678872" y="123764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현구조엔지니어링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E4265B3-B41F-940B-77C2-D578AD99E3DB}"/>
              </a:ext>
            </a:extLst>
          </p:cNvPr>
          <p:cNvSpPr/>
          <p:nvPr/>
        </p:nvSpPr>
        <p:spPr>
          <a:xfrm>
            <a:off x="2160871" y="2223532"/>
            <a:ext cx="3935129" cy="367244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주요실적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 err="1">
                <a:solidFill>
                  <a:schemeClr val="tx1"/>
                </a:solidFill>
              </a:rPr>
              <a:t>클릭시</a:t>
            </a:r>
            <a:r>
              <a:rPr lang="ko-KR" altLang="en-US" sz="1600" b="1" dirty="0">
                <a:solidFill>
                  <a:schemeClr val="tx1"/>
                </a:solidFill>
              </a:rPr>
              <a:t> 바로가기 링크 삽입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&gt;</a:t>
            </a:r>
            <a:r>
              <a:rPr lang="ko-KR" altLang="en-US" sz="1600" b="1" dirty="0">
                <a:solidFill>
                  <a:schemeClr val="tx1"/>
                </a:solidFill>
              </a:rPr>
              <a:t>사업실적</a:t>
            </a:r>
            <a:r>
              <a:rPr lang="en-US" altLang="ko-KR" sz="16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A8CBD0D-54C5-29B4-7524-75B84FBC3DF9}"/>
              </a:ext>
            </a:extLst>
          </p:cNvPr>
          <p:cNvSpPr/>
          <p:nvPr/>
        </p:nvSpPr>
        <p:spPr>
          <a:xfrm flipH="1">
            <a:off x="12314654" y="5895975"/>
            <a:ext cx="966076" cy="90158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400" b="1" dirty="0">
                <a:solidFill>
                  <a:schemeClr val="tx1"/>
                </a:solidFill>
              </a:rPr>
              <a:t>고객센터</a:t>
            </a:r>
            <a:endParaRPr lang="en-US" altLang="ko-KR" sz="400" b="1" dirty="0">
              <a:solidFill>
                <a:schemeClr val="tx1"/>
              </a:solidFill>
            </a:endParaRPr>
          </a:p>
          <a:p>
            <a:pPr algn="ctr"/>
            <a:endParaRPr lang="en-US" altLang="ko-KR" sz="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400" b="1" dirty="0">
                <a:solidFill>
                  <a:schemeClr val="tx1"/>
                </a:solidFill>
              </a:rPr>
              <a:t>TEL 070-4006-1175</a:t>
            </a:r>
          </a:p>
          <a:p>
            <a:pPr algn="ctr"/>
            <a:r>
              <a:rPr lang="en-US" altLang="ko-KR" sz="400" b="1" dirty="0">
                <a:solidFill>
                  <a:schemeClr val="tx1"/>
                </a:solidFill>
              </a:rPr>
              <a:t>FAX 0504-277-2410</a:t>
            </a:r>
          </a:p>
          <a:p>
            <a:pPr algn="ctr"/>
            <a:r>
              <a:rPr lang="en-US" altLang="ko-KR" sz="400" b="1" dirty="0">
                <a:solidFill>
                  <a:schemeClr val="tx1"/>
                </a:solidFill>
              </a:rPr>
              <a:t>E-MAIL </a:t>
            </a:r>
            <a:r>
              <a:rPr lang="en-US" altLang="ko-KR" sz="400" b="1" dirty="0">
                <a:solidFill>
                  <a:schemeClr val="tx1"/>
                </a:solidFill>
                <a:hlinkClick r:id="rId3"/>
              </a:rPr>
              <a:t>hyuneng002@naver.com</a:t>
            </a:r>
            <a:endParaRPr lang="en-US" altLang="ko-KR" sz="400" b="1" dirty="0">
              <a:solidFill>
                <a:schemeClr val="tx1"/>
              </a:solidFill>
            </a:endParaRPr>
          </a:p>
          <a:p>
            <a:pPr algn="ctr"/>
            <a:endParaRPr lang="en-US" altLang="ko-KR" sz="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400" b="1" dirty="0">
                <a:solidFill>
                  <a:schemeClr val="tx1"/>
                </a:solidFill>
              </a:rPr>
              <a:t>상담 시간</a:t>
            </a:r>
            <a:endParaRPr lang="en-US" altLang="ko-KR" sz="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400" b="1" dirty="0">
                <a:solidFill>
                  <a:schemeClr val="tx1"/>
                </a:solidFill>
              </a:rPr>
              <a:t>월</a:t>
            </a:r>
            <a:r>
              <a:rPr lang="en-US" altLang="ko-KR" sz="400" b="1" dirty="0">
                <a:solidFill>
                  <a:schemeClr val="tx1"/>
                </a:solidFill>
              </a:rPr>
              <a:t>-</a:t>
            </a:r>
            <a:r>
              <a:rPr lang="ko-KR" altLang="en-US" sz="400" b="1" dirty="0">
                <a:solidFill>
                  <a:schemeClr val="tx1"/>
                </a:solidFill>
              </a:rPr>
              <a:t>금 </a:t>
            </a:r>
            <a:r>
              <a:rPr lang="en-US" altLang="ko-KR" sz="400" b="1" dirty="0">
                <a:solidFill>
                  <a:schemeClr val="tx1"/>
                </a:solidFill>
              </a:rPr>
              <a:t>10:00 – 16:30</a:t>
            </a:r>
          </a:p>
          <a:p>
            <a:pPr algn="ctr"/>
            <a:endParaRPr lang="en-US" altLang="ko-KR" sz="400" b="1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96495C2-08F5-EE36-6B10-87A83F64FC0E}"/>
              </a:ext>
            </a:extLst>
          </p:cNvPr>
          <p:cNvSpPr/>
          <p:nvPr/>
        </p:nvSpPr>
        <p:spPr>
          <a:xfrm>
            <a:off x="6262255" y="2223532"/>
            <a:ext cx="3935129" cy="367244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온라인 견적문의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 </a:t>
            </a:r>
            <a:r>
              <a:rPr lang="ko-KR" altLang="en-US" sz="1600" b="1" dirty="0">
                <a:solidFill>
                  <a:schemeClr val="tx1"/>
                </a:solidFill>
              </a:rPr>
              <a:t>신청자 성명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</a:rPr>
              <a:t>연락처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</a:rPr>
              <a:t>견적분야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</a:rPr>
              <a:t>견적내용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□ 개인정보 취급방침 동의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01B71E9-C4D5-4141-19A0-CD6A8BE9C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7710" y="104125"/>
            <a:ext cx="1317968" cy="90467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516FA91-9B8D-1CBD-9EBE-93FFB0C8C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8383" y="157636"/>
            <a:ext cx="1341202" cy="82385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A36DB6A-E751-C431-B93E-66ACBFE458BE}"/>
              </a:ext>
            </a:extLst>
          </p:cNvPr>
          <p:cNvSpPr txBox="1"/>
          <p:nvPr/>
        </p:nvSpPr>
        <p:spPr>
          <a:xfrm>
            <a:off x="8774502" y="142651"/>
            <a:ext cx="587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 Ref</a:t>
            </a:r>
            <a:endParaRPr lang="ko-KR" altLang="en-US" sz="1000" b="1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3608C0F-44F5-ECD7-1171-18E1B545B50D}"/>
              </a:ext>
            </a:extLst>
          </p:cNvPr>
          <p:cNvSpPr/>
          <p:nvPr/>
        </p:nvSpPr>
        <p:spPr>
          <a:xfrm>
            <a:off x="6818270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회사소개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4EBE01E-B2E4-A3C5-0BA5-97511D1B9A66}"/>
              </a:ext>
            </a:extLst>
          </p:cNvPr>
          <p:cNvSpPr/>
          <p:nvPr/>
        </p:nvSpPr>
        <p:spPr>
          <a:xfrm>
            <a:off x="8160696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사업분야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7AB5C91-DBBD-28E9-BF61-02B415D77A83}"/>
              </a:ext>
            </a:extLst>
          </p:cNvPr>
          <p:cNvSpPr/>
          <p:nvPr/>
        </p:nvSpPr>
        <p:spPr>
          <a:xfrm>
            <a:off x="9503122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사업실적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74627F2-2392-814E-6108-AA41E6E98A6B}"/>
              </a:ext>
            </a:extLst>
          </p:cNvPr>
          <p:cNvSpPr/>
          <p:nvPr/>
        </p:nvSpPr>
        <p:spPr>
          <a:xfrm>
            <a:off x="10809922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견적문의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950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D60F2-F802-A98D-476A-50281F5C1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552869-1323-D48E-2A7B-123455DA07FB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A21255-3499-D38A-6549-2AF09411B290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 err="1"/>
              <a:t>메인화면</a:t>
            </a:r>
            <a:r>
              <a:rPr lang="en-US" altLang="ko-KR" sz="1200" b="1" dirty="0"/>
              <a:t> - </a:t>
            </a:r>
            <a:r>
              <a:rPr lang="ko-KR" altLang="en-US" sz="1200" b="1" dirty="0"/>
              <a:t>카테고리별 메뉴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5D30084-FA63-D82F-8FA6-79B065B89ED0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5C31EA-23D6-1CA2-C39E-93CF4C31F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91" y="1216800"/>
            <a:ext cx="411018" cy="411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D76D7D-5F48-99A8-D5D9-CDE3A32AB9E9}"/>
              </a:ext>
            </a:extLst>
          </p:cNvPr>
          <p:cNvSpPr txBox="1"/>
          <p:nvPr/>
        </p:nvSpPr>
        <p:spPr>
          <a:xfrm>
            <a:off x="678872" y="123764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현구조엔지니어링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FDBF5C-BF47-BB3F-8C05-8D11FAAD863B}"/>
              </a:ext>
            </a:extLst>
          </p:cNvPr>
          <p:cNvSpPr/>
          <p:nvPr/>
        </p:nvSpPr>
        <p:spPr>
          <a:xfrm>
            <a:off x="4143501" y="2209800"/>
            <a:ext cx="2106765" cy="377190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사업분야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285750" lvl="0" indent="-285750">
              <a:buFontTx/>
              <a:buChar char="-"/>
              <a:defRPr/>
            </a:pPr>
            <a:r>
              <a:rPr lang="ko-KR" altLang="en-US" sz="1400" b="1" dirty="0">
                <a:solidFill>
                  <a:prstClr val="black"/>
                </a:solidFill>
              </a:rPr>
              <a:t>안전진단전문기관</a:t>
            </a:r>
            <a:endParaRPr lang="en-US" altLang="ko-KR" sz="1400" b="1" dirty="0">
              <a:solidFill>
                <a:prstClr val="black"/>
              </a:solidFill>
            </a:endParaRPr>
          </a:p>
          <a:p>
            <a:pPr marL="285750" lvl="0" indent="-285750">
              <a:buFontTx/>
              <a:buChar char="-"/>
              <a:defRPr/>
            </a:pPr>
            <a:r>
              <a:rPr lang="ko-KR" altLang="en-US" sz="1400" b="1" dirty="0">
                <a:solidFill>
                  <a:prstClr val="black"/>
                </a:solidFill>
              </a:rPr>
              <a:t>법원감정전문기관</a:t>
            </a:r>
            <a:endParaRPr lang="en-US" altLang="ko-KR" sz="1400" b="1" dirty="0">
              <a:solidFill>
                <a:prstClr val="black"/>
              </a:solidFill>
            </a:endParaRPr>
          </a:p>
          <a:p>
            <a:pPr marL="285750" lvl="0" indent="-285750">
              <a:buFontTx/>
              <a:buChar char="-"/>
              <a:defRPr/>
            </a:pPr>
            <a:r>
              <a:rPr lang="ko-KR" altLang="en-US" sz="1400" b="1" dirty="0">
                <a:solidFill>
                  <a:prstClr val="black"/>
                </a:solidFill>
              </a:rPr>
              <a:t>원가계산전문기관</a:t>
            </a:r>
            <a:endParaRPr lang="en-US" altLang="ko-KR" sz="1400" b="1" dirty="0">
              <a:solidFill>
                <a:prstClr val="black"/>
              </a:solidFill>
            </a:endParaRPr>
          </a:p>
          <a:p>
            <a:pPr marL="285750" lvl="0" indent="-285750">
              <a:buFontTx/>
              <a:buChar char="-"/>
              <a:defRPr/>
            </a:pPr>
            <a:r>
              <a:rPr lang="ko-KR" altLang="en-US" sz="1400" b="1" dirty="0">
                <a:solidFill>
                  <a:prstClr val="black"/>
                </a:solidFill>
              </a:rPr>
              <a:t>건축</a:t>
            </a:r>
            <a:r>
              <a:rPr lang="en-US" altLang="ko-KR" sz="1400" b="1" dirty="0">
                <a:solidFill>
                  <a:prstClr val="black"/>
                </a:solidFill>
              </a:rPr>
              <a:t>·</a:t>
            </a:r>
            <a:r>
              <a:rPr lang="ko-KR" altLang="en-US" sz="1400" b="1" dirty="0">
                <a:solidFill>
                  <a:prstClr val="black"/>
                </a:solidFill>
              </a:rPr>
              <a:t>토목 구조검토</a:t>
            </a:r>
            <a:endParaRPr lang="en-US" altLang="ko-KR" sz="1400" b="1" dirty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en-US" altLang="ko-KR" sz="1400" b="1" dirty="0">
                <a:solidFill>
                  <a:prstClr val="black"/>
                </a:solidFill>
              </a:rPr>
              <a:t>     (</a:t>
            </a:r>
            <a:r>
              <a:rPr lang="ko-KR" altLang="en-US" sz="1400" b="1" dirty="0">
                <a:solidFill>
                  <a:prstClr val="black"/>
                </a:solidFill>
              </a:rPr>
              <a:t>해체계획서 작성</a:t>
            </a:r>
            <a:r>
              <a:rPr lang="en-US" altLang="ko-KR" sz="1400" b="1" dirty="0">
                <a:solidFill>
                  <a:prstClr val="black"/>
                </a:solidFill>
              </a:rPr>
              <a:t>)</a:t>
            </a:r>
            <a:endParaRPr lang="ko-KR" altLang="en-US" sz="1400" b="1" dirty="0">
              <a:solidFill>
                <a:prstClr val="black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B7041B0-0256-26D3-F96A-2C98B5A97803}"/>
              </a:ext>
            </a:extLst>
          </p:cNvPr>
          <p:cNvSpPr/>
          <p:nvPr/>
        </p:nvSpPr>
        <p:spPr>
          <a:xfrm>
            <a:off x="6378687" y="2209800"/>
            <a:ext cx="2106765" cy="377190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사업실적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  <a:defRPr/>
            </a:pPr>
            <a:r>
              <a:rPr lang="ko-KR" altLang="en-US" sz="1400" b="1" dirty="0">
                <a:solidFill>
                  <a:prstClr val="black"/>
                </a:solidFill>
              </a:rPr>
              <a:t>안전진단전문기관</a:t>
            </a:r>
            <a:endParaRPr lang="en-US" altLang="ko-KR" sz="1400" b="1" dirty="0">
              <a:solidFill>
                <a:prstClr val="black"/>
              </a:solidFill>
            </a:endParaRPr>
          </a:p>
          <a:p>
            <a:pPr marL="285750" lvl="0" indent="-285750">
              <a:buFontTx/>
              <a:buChar char="-"/>
              <a:defRPr/>
            </a:pPr>
            <a:r>
              <a:rPr lang="ko-KR" altLang="en-US" sz="1400" b="1" dirty="0">
                <a:solidFill>
                  <a:prstClr val="black"/>
                </a:solidFill>
              </a:rPr>
              <a:t>법원감정전문기관</a:t>
            </a:r>
            <a:endParaRPr lang="en-US" altLang="ko-KR" sz="1400" b="1" dirty="0">
              <a:solidFill>
                <a:prstClr val="black"/>
              </a:solidFill>
            </a:endParaRPr>
          </a:p>
          <a:p>
            <a:pPr marL="285750" lvl="0" indent="-285750">
              <a:buFontTx/>
              <a:buChar char="-"/>
              <a:defRPr/>
            </a:pPr>
            <a:r>
              <a:rPr lang="ko-KR" altLang="en-US" sz="1400" b="1" dirty="0">
                <a:solidFill>
                  <a:prstClr val="black"/>
                </a:solidFill>
              </a:rPr>
              <a:t>원가계산전문기관</a:t>
            </a:r>
            <a:endParaRPr lang="en-US" altLang="ko-KR" sz="1400" b="1" dirty="0">
              <a:solidFill>
                <a:prstClr val="black"/>
              </a:solidFill>
            </a:endParaRPr>
          </a:p>
          <a:p>
            <a:pPr marL="285750" lvl="0" indent="-285750">
              <a:buFontTx/>
              <a:buChar char="-"/>
              <a:defRPr/>
            </a:pPr>
            <a:r>
              <a:rPr lang="ko-KR" altLang="en-US" sz="1400" b="1" dirty="0">
                <a:solidFill>
                  <a:prstClr val="black"/>
                </a:solidFill>
              </a:rPr>
              <a:t>건축</a:t>
            </a:r>
            <a:r>
              <a:rPr lang="en-US" altLang="ko-KR" sz="1400" b="1" dirty="0">
                <a:solidFill>
                  <a:prstClr val="black"/>
                </a:solidFill>
              </a:rPr>
              <a:t>·</a:t>
            </a:r>
            <a:r>
              <a:rPr lang="ko-KR" altLang="en-US" sz="1400" b="1" dirty="0">
                <a:solidFill>
                  <a:prstClr val="black"/>
                </a:solidFill>
              </a:rPr>
              <a:t>토목 구조검토</a:t>
            </a:r>
            <a:endParaRPr lang="en-US" altLang="ko-KR" sz="1400" b="1" dirty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en-US" altLang="ko-KR" sz="1400" b="1" dirty="0">
                <a:solidFill>
                  <a:prstClr val="black"/>
                </a:solidFill>
              </a:rPr>
              <a:t>     (</a:t>
            </a:r>
            <a:r>
              <a:rPr lang="ko-KR" altLang="en-US" sz="1400" b="1" dirty="0">
                <a:solidFill>
                  <a:prstClr val="black"/>
                </a:solidFill>
              </a:rPr>
              <a:t>해체계획서 작성</a:t>
            </a:r>
            <a:r>
              <a:rPr lang="en-US" altLang="ko-KR" sz="1400" b="1" dirty="0">
                <a:solidFill>
                  <a:prstClr val="black"/>
                </a:solidFill>
              </a:rPr>
              <a:t>)</a:t>
            </a:r>
            <a:endParaRPr lang="ko-KR" altLang="en-US" sz="1400" b="1" dirty="0">
              <a:solidFill>
                <a:prstClr val="black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DE91F1A-6FCE-5C36-F85A-43B17EC66B36}"/>
              </a:ext>
            </a:extLst>
          </p:cNvPr>
          <p:cNvSpPr/>
          <p:nvPr/>
        </p:nvSpPr>
        <p:spPr>
          <a:xfrm>
            <a:off x="8629594" y="2209800"/>
            <a:ext cx="2106765" cy="377190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견적문의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E41CBA0-74D3-FAD2-B6A0-2533A3D8CE6E}"/>
              </a:ext>
            </a:extLst>
          </p:cNvPr>
          <p:cNvSpPr/>
          <p:nvPr/>
        </p:nvSpPr>
        <p:spPr>
          <a:xfrm>
            <a:off x="1908315" y="2209800"/>
            <a:ext cx="2106765" cy="377190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회사소개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인사말</a:t>
            </a:r>
            <a:endParaRPr lang="en-US" altLang="ko-KR" sz="1400" b="1" dirty="0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연혁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조직도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기술보유현황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장비보유현황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인증서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5CB8926-3B48-8522-D662-EE0EAB78E654}"/>
              </a:ext>
            </a:extLst>
          </p:cNvPr>
          <p:cNvSpPr/>
          <p:nvPr/>
        </p:nvSpPr>
        <p:spPr>
          <a:xfrm>
            <a:off x="6818270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회사소개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6E30946-3C9A-A4DE-F682-14E58BC9A9EF}"/>
              </a:ext>
            </a:extLst>
          </p:cNvPr>
          <p:cNvSpPr/>
          <p:nvPr/>
        </p:nvSpPr>
        <p:spPr>
          <a:xfrm>
            <a:off x="8160696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사업분야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A446BD8-172B-CA40-DA83-4F13564DAF62}"/>
              </a:ext>
            </a:extLst>
          </p:cNvPr>
          <p:cNvSpPr/>
          <p:nvPr/>
        </p:nvSpPr>
        <p:spPr>
          <a:xfrm>
            <a:off x="9503122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사업실적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AAEDC4E-CE92-8E38-497D-D249903BF35A}"/>
              </a:ext>
            </a:extLst>
          </p:cNvPr>
          <p:cNvSpPr/>
          <p:nvPr/>
        </p:nvSpPr>
        <p:spPr>
          <a:xfrm>
            <a:off x="10809922" y="1141001"/>
            <a:ext cx="942976" cy="5626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견적문의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B6F7FD7-0214-AD70-C494-CCC461F4B900}"/>
              </a:ext>
            </a:extLst>
          </p:cNvPr>
          <p:cNvSpPr/>
          <p:nvPr/>
        </p:nvSpPr>
        <p:spPr>
          <a:xfrm>
            <a:off x="5830992" y="1606975"/>
            <a:ext cx="5308919" cy="1031450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 dirty="0"/>
              <a:t>상단 카테고리 드래그시 아래 전체메뉴 팝업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각 카테고리 드래그시 해당 분야 카테고리 배색 강조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498094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22EE9-5727-BF1D-776F-06D2B0EF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F6AC22-1C93-8FA0-EBE7-D62AB1B5409E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A60566-56FC-4A24-2440-A82CEF383BB1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회사소개</a:t>
            </a:r>
            <a:r>
              <a:rPr lang="en-US" altLang="ko-KR" sz="1200" b="1" dirty="0"/>
              <a:t> – </a:t>
            </a:r>
            <a:r>
              <a:rPr lang="ko-KR" altLang="en-US" sz="1200" b="1" dirty="0"/>
              <a:t>공통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3A8750-1FCC-9187-8759-FA94417575C5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02A22F-35BD-3D51-642E-14F7475C3FD0}"/>
              </a:ext>
            </a:extLst>
          </p:cNvPr>
          <p:cNvSpPr/>
          <p:nvPr/>
        </p:nvSpPr>
        <p:spPr>
          <a:xfrm>
            <a:off x="443388" y="1122528"/>
            <a:ext cx="11305223" cy="18873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적절한 이미지 사용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D2545B-9B6B-1DDC-CD16-8811A6772124}"/>
              </a:ext>
            </a:extLst>
          </p:cNvPr>
          <p:cNvSpPr/>
          <p:nvPr/>
        </p:nvSpPr>
        <p:spPr>
          <a:xfrm>
            <a:off x="443388" y="1122528"/>
            <a:ext cx="11305222" cy="1887372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회사소개</a:t>
            </a:r>
            <a:endParaRPr lang="en-US" altLang="ko-KR" sz="2000" dirty="0"/>
          </a:p>
          <a:p>
            <a:pPr algn="ctr"/>
            <a:endParaRPr lang="en-US" altLang="ko-KR" sz="800" dirty="0"/>
          </a:p>
          <a:p>
            <a:pPr algn="ctr"/>
            <a:r>
              <a:rPr lang="en-US" altLang="ko-KR" sz="1200" dirty="0"/>
              <a:t>INTRODUCTION</a:t>
            </a:r>
            <a:endParaRPr lang="ko-KR" altLang="en-US" sz="12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F953A16-4080-9124-5DD2-4F73E6632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341" y="163956"/>
            <a:ext cx="1401404" cy="65961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79A090C-1DFB-C783-2D83-887F50DD0BEB}"/>
              </a:ext>
            </a:extLst>
          </p:cNvPr>
          <p:cNvSpPr txBox="1"/>
          <p:nvPr/>
        </p:nvSpPr>
        <p:spPr>
          <a:xfrm>
            <a:off x="10141772" y="132674"/>
            <a:ext cx="587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 Ref</a:t>
            </a:r>
            <a:endParaRPr lang="ko-KR" altLang="en-US" sz="1000" b="1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02E0DF6-F11A-C75C-05D1-CA8E87FC44FA}"/>
              </a:ext>
            </a:extLst>
          </p:cNvPr>
          <p:cNvSpPr/>
          <p:nvPr/>
        </p:nvSpPr>
        <p:spPr>
          <a:xfrm>
            <a:off x="443388" y="3889159"/>
            <a:ext cx="11305222" cy="231161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소분류별 내용</a:t>
            </a:r>
            <a:endParaRPr lang="ko-KR" altLang="en-US" sz="12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83A96EF-6FBF-7F45-0421-C7563FA704B1}"/>
              </a:ext>
            </a:extLst>
          </p:cNvPr>
          <p:cNvSpPr/>
          <p:nvPr/>
        </p:nvSpPr>
        <p:spPr>
          <a:xfrm>
            <a:off x="3633248" y="3225847"/>
            <a:ext cx="942976" cy="402916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인사말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36615CD-FDCC-0B92-8C2A-84014BE05C80}"/>
              </a:ext>
            </a:extLst>
          </p:cNvPr>
          <p:cNvSpPr/>
          <p:nvPr/>
        </p:nvSpPr>
        <p:spPr>
          <a:xfrm>
            <a:off x="4677268" y="3225847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연혁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6E82E9C-02DF-B775-782C-9AA55F66994B}"/>
              </a:ext>
            </a:extLst>
          </p:cNvPr>
          <p:cNvSpPr/>
          <p:nvPr/>
        </p:nvSpPr>
        <p:spPr>
          <a:xfrm>
            <a:off x="5721288" y="3225847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조직도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155B257-9C23-2AEF-598A-AE0C8678486F}"/>
              </a:ext>
            </a:extLst>
          </p:cNvPr>
          <p:cNvSpPr/>
          <p:nvPr/>
        </p:nvSpPr>
        <p:spPr>
          <a:xfrm>
            <a:off x="6765308" y="3225847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기술보유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8BADDA2-B68D-94E4-F566-0B7F5D5A8D5B}"/>
              </a:ext>
            </a:extLst>
          </p:cNvPr>
          <p:cNvSpPr/>
          <p:nvPr/>
        </p:nvSpPr>
        <p:spPr>
          <a:xfrm>
            <a:off x="8848859" y="3225847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인증서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948573A-8B78-E7AE-C788-A8AC67EFC85C}"/>
              </a:ext>
            </a:extLst>
          </p:cNvPr>
          <p:cNvSpPr/>
          <p:nvPr/>
        </p:nvSpPr>
        <p:spPr>
          <a:xfrm>
            <a:off x="7804839" y="3225847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장비보유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F4910F4-7E90-108E-36AF-54ECFC6195BF}"/>
              </a:ext>
            </a:extLst>
          </p:cNvPr>
          <p:cNvSpPr/>
          <p:nvPr/>
        </p:nvSpPr>
        <p:spPr>
          <a:xfrm>
            <a:off x="9892879" y="3429000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회사소개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인사말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80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F4970-C7BE-E71D-5886-9FB86EB8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296AD0-4309-7C02-CBFE-0C5186EA2BB1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E8EC28-CAD3-2094-36D0-3E4B3D393CF3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회사소개</a:t>
            </a:r>
            <a:r>
              <a:rPr lang="en-US" altLang="ko-KR" sz="1200" b="1" dirty="0"/>
              <a:t> – </a:t>
            </a:r>
            <a:r>
              <a:rPr lang="ko-KR" altLang="en-US" sz="1200" b="1" dirty="0"/>
              <a:t>인사말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895B63-F4B1-D6DA-A1C0-DF2179A7BAA6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AA5DF1A-F10E-54A7-AE07-4D9A861D6285}"/>
              </a:ext>
            </a:extLst>
          </p:cNvPr>
          <p:cNvSpPr/>
          <p:nvPr/>
        </p:nvSpPr>
        <p:spPr>
          <a:xfrm>
            <a:off x="485335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기업이념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0D5464F-4A18-BAD2-90EB-52C3B857CDC2}"/>
              </a:ext>
            </a:extLst>
          </p:cNvPr>
          <p:cNvSpPr/>
          <p:nvPr/>
        </p:nvSpPr>
        <p:spPr>
          <a:xfrm>
            <a:off x="589737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연혁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0857D98-D68D-7802-A3E7-25CE2BF1D725}"/>
              </a:ext>
            </a:extLst>
          </p:cNvPr>
          <p:cNvSpPr/>
          <p:nvPr/>
        </p:nvSpPr>
        <p:spPr>
          <a:xfrm>
            <a:off x="694139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조직도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24BEA60-B226-5080-3D69-01AF0C5AED1D}"/>
              </a:ext>
            </a:extLst>
          </p:cNvPr>
          <p:cNvSpPr/>
          <p:nvPr/>
        </p:nvSpPr>
        <p:spPr>
          <a:xfrm>
            <a:off x="798541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면허보유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FCEDF5D-0F53-7A6D-B495-564598463CCE}"/>
              </a:ext>
            </a:extLst>
          </p:cNvPr>
          <p:cNvSpPr/>
          <p:nvPr/>
        </p:nvSpPr>
        <p:spPr>
          <a:xfrm>
            <a:off x="9024950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장비보유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391C43C-46D8-C5B9-03B4-3622729101D7}"/>
              </a:ext>
            </a:extLst>
          </p:cNvPr>
          <p:cNvSpPr/>
          <p:nvPr/>
        </p:nvSpPr>
        <p:spPr>
          <a:xfrm>
            <a:off x="10068970" y="1371862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회사소개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인사말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48B5790-C5C0-6EEE-1536-0466AE790F40}"/>
              </a:ext>
            </a:extLst>
          </p:cNvPr>
          <p:cNvSpPr/>
          <p:nvPr/>
        </p:nvSpPr>
        <p:spPr>
          <a:xfrm>
            <a:off x="620170" y="2057661"/>
            <a:ext cx="11190231" cy="381926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□ 인사말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900" b="1" dirty="0">
              <a:solidFill>
                <a:schemeClr val="tx1"/>
              </a:solidFill>
            </a:endParaRPr>
          </a:p>
          <a:p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ko-KR" altLang="en-US" sz="1100" b="1" dirty="0">
                <a:solidFill>
                  <a:schemeClr val="tx1"/>
                </a:solidFill>
              </a:rPr>
              <a:t>정확한 판단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안전한 구조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신뢰받는 기술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en-US" altLang="ko-KR" sz="900" b="1" dirty="0">
                <a:solidFill>
                  <a:schemeClr val="tx1"/>
                </a:solidFill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</a:rPr>
              <a:t>주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  <a:r>
              <a:rPr lang="ko-KR" altLang="en-US" sz="900" b="1" dirty="0">
                <a:solidFill>
                  <a:schemeClr val="tx1"/>
                </a:solidFill>
              </a:rPr>
              <a:t>현구조엔지니어링은 안전진단 및 점검</a:t>
            </a:r>
            <a:r>
              <a:rPr lang="en-US" altLang="ko-KR" sz="900" b="1" dirty="0">
                <a:solidFill>
                  <a:schemeClr val="tx1"/>
                </a:solidFill>
              </a:rPr>
              <a:t>,</a:t>
            </a:r>
            <a:r>
              <a:rPr lang="ko-KR" altLang="en-US" sz="900" b="1" dirty="0">
                <a:solidFill>
                  <a:schemeClr val="tx1"/>
                </a:solidFill>
              </a:rPr>
              <a:t> 법원감정</a:t>
            </a:r>
            <a:r>
              <a:rPr lang="en-US" altLang="ko-KR" sz="900" b="1" dirty="0">
                <a:solidFill>
                  <a:schemeClr val="tx1"/>
                </a:solidFill>
              </a:rPr>
              <a:t>, </a:t>
            </a:r>
            <a:r>
              <a:rPr lang="ko-KR" altLang="en-US" sz="900" b="1" dirty="0">
                <a:solidFill>
                  <a:schemeClr val="tx1"/>
                </a:solidFill>
              </a:rPr>
              <a:t>원가계산</a:t>
            </a:r>
            <a:r>
              <a:rPr lang="en-US" altLang="ko-KR" sz="900" b="1" dirty="0">
                <a:solidFill>
                  <a:schemeClr val="tx1"/>
                </a:solidFill>
              </a:rPr>
              <a:t>, </a:t>
            </a:r>
            <a:r>
              <a:rPr lang="ko-KR" altLang="en-US" sz="900" b="1" dirty="0">
                <a:solidFill>
                  <a:schemeClr val="tx1"/>
                </a:solidFill>
              </a:rPr>
              <a:t>건축</a:t>
            </a:r>
            <a:r>
              <a:rPr lang="en-US" altLang="ko-KR" sz="900" b="1" dirty="0">
                <a:solidFill>
                  <a:schemeClr val="tx1"/>
                </a:solidFill>
              </a:rPr>
              <a:t>·</a:t>
            </a:r>
            <a:r>
              <a:rPr lang="ko-KR" altLang="en-US" sz="900" b="1" dirty="0">
                <a:solidFill>
                  <a:schemeClr val="tx1"/>
                </a:solidFill>
              </a:rPr>
              <a:t>토목 구조검토 등 건설 분야 전반의 기술적</a:t>
            </a:r>
            <a:r>
              <a:rPr lang="en-US" altLang="ko-KR" sz="900" b="1" dirty="0">
                <a:solidFill>
                  <a:schemeClr val="tx1"/>
                </a:solidFill>
              </a:rPr>
              <a:t>·</a:t>
            </a:r>
            <a:r>
              <a:rPr lang="ko-KR" altLang="en-US" sz="900" b="1" dirty="0">
                <a:solidFill>
                  <a:schemeClr val="tx1"/>
                </a:solidFill>
              </a:rPr>
              <a:t>법률적 서비스를 전문적으로 수행하는 구조안전 전문기업입니다</a:t>
            </a:r>
            <a:r>
              <a:rPr lang="en-US" altLang="ko-KR" sz="900" b="1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900" b="1" dirty="0">
                <a:solidFill>
                  <a:schemeClr val="tx1"/>
                </a:solidFill>
              </a:rPr>
              <a:t>풍부한 현장 경험과 체계적인 기술력을 바탕으로 안전 최우선의 진단과 구조 설계</a:t>
            </a:r>
            <a:r>
              <a:rPr lang="en-US" altLang="ko-KR" sz="900" b="1" dirty="0">
                <a:solidFill>
                  <a:schemeClr val="tx1"/>
                </a:solidFill>
              </a:rPr>
              <a:t>, </a:t>
            </a:r>
            <a:r>
              <a:rPr lang="ko-KR" altLang="en-US" sz="900" b="1" dirty="0">
                <a:solidFill>
                  <a:schemeClr val="tx1"/>
                </a:solidFill>
              </a:rPr>
              <a:t>공정하고 객관적인 감정</a:t>
            </a:r>
            <a:r>
              <a:rPr lang="en-US" altLang="ko-KR" sz="900" b="1" dirty="0">
                <a:solidFill>
                  <a:schemeClr val="tx1"/>
                </a:solidFill>
              </a:rPr>
              <a:t>, </a:t>
            </a:r>
            <a:r>
              <a:rPr lang="ko-KR" altLang="en-US" sz="900" b="1" dirty="0">
                <a:solidFill>
                  <a:schemeClr val="tx1"/>
                </a:solidFill>
              </a:rPr>
              <a:t>합리적인 기술 자문을 제공합니다</a:t>
            </a:r>
            <a:r>
              <a:rPr lang="en-US" altLang="ko-KR" sz="900" b="1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900" b="1" dirty="0">
                <a:solidFill>
                  <a:schemeClr val="tx1"/>
                </a:solidFill>
              </a:rPr>
              <a:t>건설분쟁의 합리적 해결과 구조물의 안전 확보를 위한 최선의 서비스를 제공할 것을 </a:t>
            </a:r>
            <a:r>
              <a:rPr lang="ko-KR" altLang="en-US" sz="900" b="1" dirty="0" err="1">
                <a:solidFill>
                  <a:schemeClr val="tx1"/>
                </a:solidFill>
              </a:rPr>
              <a:t>약속드립니다</a:t>
            </a:r>
            <a:r>
              <a:rPr lang="en-US" altLang="ko-KR" sz="900" b="1" dirty="0">
                <a:solidFill>
                  <a:schemeClr val="tx1"/>
                </a:solidFill>
              </a:rPr>
              <a:t>.</a:t>
            </a:r>
          </a:p>
          <a:p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ko-KR" altLang="en-US" sz="900" b="1" dirty="0">
                <a:solidFill>
                  <a:schemeClr val="tx1"/>
                </a:solidFill>
              </a:rPr>
              <a:t>대표이사 김현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1F32A8D-8688-ED3F-4721-B66265E152EB}"/>
              </a:ext>
            </a:extLst>
          </p:cNvPr>
          <p:cNvSpPr/>
          <p:nvPr/>
        </p:nvSpPr>
        <p:spPr>
          <a:xfrm>
            <a:off x="3809339" y="1168709"/>
            <a:ext cx="942976" cy="402916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인사말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91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1565-2210-E87D-C544-C2EB0D4B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87CB30-31FE-4D1D-4C4C-27A68CB8041D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316633-F618-A964-8E39-6D36F36F4083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회사소개</a:t>
            </a:r>
            <a:r>
              <a:rPr lang="en-US" altLang="ko-KR" sz="1200" b="1" dirty="0"/>
              <a:t> – </a:t>
            </a:r>
            <a:r>
              <a:rPr lang="ko-KR" altLang="en-US" sz="1200" b="1" dirty="0"/>
              <a:t>기업이념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2589A5-9651-CA83-B275-C38A20258C65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F3299E8-0B79-134B-D339-76FBC9E2D667}"/>
              </a:ext>
            </a:extLst>
          </p:cNvPr>
          <p:cNvSpPr/>
          <p:nvPr/>
        </p:nvSpPr>
        <p:spPr>
          <a:xfrm>
            <a:off x="4860574" y="1166242"/>
            <a:ext cx="942976" cy="402916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기업이념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96B43FE-63DB-92D7-A1C4-D123D4ABAFD2}"/>
              </a:ext>
            </a:extLst>
          </p:cNvPr>
          <p:cNvSpPr/>
          <p:nvPr/>
        </p:nvSpPr>
        <p:spPr>
          <a:xfrm>
            <a:off x="10068970" y="1371862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회사소개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인사말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37BFD2B-0E8A-D677-6B63-F4099663FE36}"/>
              </a:ext>
            </a:extLst>
          </p:cNvPr>
          <p:cNvSpPr/>
          <p:nvPr/>
        </p:nvSpPr>
        <p:spPr>
          <a:xfrm>
            <a:off x="620170" y="2057661"/>
            <a:ext cx="11190231" cy="137133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□ 비전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900" b="1" dirty="0">
              <a:solidFill>
                <a:schemeClr val="tx1"/>
              </a:solidFill>
            </a:endParaRPr>
          </a:p>
          <a:p>
            <a:endParaRPr lang="en-US" altLang="ko-KR" sz="900" b="1" dirty="0">
              <a:solidFill>
                <a:schemeClr val="tx1"/>
              </a:solidFill>
            </a:endParaRPr>
          </a:p>
          <a:p>
            <a:r>
              <a:rPr lang="ko-KR" altLang="en-US" sz="1100" b="1" dirty="0">
                <a:solidFill>
                  <a:schemeClr val="tx1"/>
                </a:solidFill>
              </a:rPr>
              <a:t>기술력과 법률적 전문성을 겸비한 건설 구조안전 및 법무감정 분야의 선도기업으로서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sz="1100" b="1" dirty="0">
                <a:solidFill>
                  <a:schemeClr val="tx1"/>
                </a:solidFill>
              </a:rPr>
              <a:t>정확한 분석과 책임 있는 기술 서비스를 통해 고객이 신뢰할 수 있는 공정하고 안전한 건설환경 조성에 앞장서겠습니다</a:t>
            </a:r>
            <a:r>
              <a:rPr lang="en-US" altLang="ko-KR" sz="1100" b="1" dirty="0">
                <a:solidFill>
                  <a:schemeClr val="tx1"/>
                </a:solidFill>
              </a:rPr>
              <a:t>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2D7917A-6D6C-9E46-E29A-C0F49A16C742}"/>
              </a:ext>
            </a:extLst>
          </p:cNvPr>
          <p:cNvSpPr/>
          <p:nvPr/>
        </p:nvSpPr>
        <p:spPr>
          <a:xfrm>
            <a:off x="3816554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인사말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C52E0F7-AA18-77C5-95C4-B96CF0420C76}"/>
              </a:ext>
            </a:extLst>
          </p:cNvPr>
          <p:cNvSpPr/>
          <p:nvPr/>
        </p:nvSpPr>
        <p:spPr>
          <a:xfrm>
            <a:off x="620170" y="3720336"/>
            <a:ext cx="11190231" cy="222326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□ 핵심 가치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D4C2827-7C14-0A17-7C6A-B6300C9848C7}"/>
              </a:ext>
            </a:extLst>
          </p:cNvPr>
          <p:cNvSpPr/>
          <p:nvPr/>
        </p:nvSpPr>
        <p:spPr>
          <a:xfrm>
            <a:off x="5557404" y="4152900"/>
            <a:ext cx="1104900" cy="1104900"/>
          </a:xfrm>
          <a:prstGeom prst="ellipse">
            <a:avLst/>
          </a:prstGeom>
          <a:solidFill>
            <a:srgbClr val="A4C4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dirty="0"/>
              <a:t>안전성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6908DD8-ADE6-B5C8-ED91-0C28D51E456C}"/>
              </a:ext>
            </a:extLst>
          </p:cNvPr>
          <p:cNvSpPr/>
          <p:nvPr/>
        </p:nvSpPr>
        <p:spPr>
          <a:xfrm>
            <a:off x="2817090" y="4152900"/>
            <a:ext cx="1104900" cy="1104900"/>
          </a:xfrm>
          <a:prstGeom prst="ellipse">
            <a:avLst/>
          </a:prstGeom>
          <a:solidFill>
            <a:srgbClr val="A4C4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dirty="0"/>
              <a:t>정확성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9A1247C-0D2D-2B5A-79EF-3CFAA1593437}"/>
              </a:ext>
            </a:extLst>
          </p:cNvPr>
          <p:cNvSpPr/>
          <p:nvPr/>
        </p:nvSpPr>
        <p:spPr>
          <a:xfrm>
            <a:off x="8297718" y="4152900"/>
            <a:ext cx="1104900" cy="1104900"/>
          </a:xfrm>
          <a:prstGeom prst="ellipse">
            <a:avLst/>
          </a:prstGeom>
          <a:solidFill>
            <a:srgbClr val="A4C4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/>
              <a:t>신뢰성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AAC0E2-F3DC-7DFA-B2DC-793418B302C3}"/>
              </a:ext>
            </a:extLst>
          </p:cNvPr>
          <p:cNvSpPr txBox="1"/>
          <p:nvPr/>
        </p:nvSpPr>
        <p:spPr>
          <a:xfrm>
            <a:off x="2031607" y="5400675"/>
            <a:ext cx="2675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근거와 데이터를 기반으로 한 객관적 판단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428401-782F-FFD4-1482-5031A642F855}"/>
              </a:ext>
            </a:extLst>
          </p:cNvPr>
          <p:cNvSpPr txBox="1"/>
          <p:nvPr/>
        </p:nvSpPr>
        <p:spPr>
          <a:xfrm>
            <a:off x="4759530" y="5400675"/>
            <a:ext cx="2675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구조적 안정과 시공의 합리성 확보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0A2482-86F9-8F8A-086E-7EC34F90D3EC}"/>
              </a:ext>
            </a:extLst>
          </p:cNvPr>
          <p:cNvSpPr txBox="1"/>
          <p:nvPr/>
        </p:nvSpPr>
        <p:spPr>
          <a:xfrm>
            <a:off x="7512235" y="5400675"/>
            <a:ext cx="2675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투명하고 공정한 업무 수행으로 신뢰 확보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5E5932-66C3-0A97-CDC8-54AFA85EDA28}"/>
              </a:ext>
            </a:extLst>
          </p:cNvPr>
          <p:cNvSpPr/>
          <p:nvPr/>
        </p:nvSpPr>
        <p:spPr>
          <a:xfrm>
            <a:off x="2368483" y="3794961"/>
            <a:ext cx="7455034" cy="787728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/>
              <a:t>디자인 맥락상 적절한 형태로 도형화</a:t>
            </a:r>
            <a:endParaRPr lang="en-US" altLang="ko-KR" sz="12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16BFC51-3EA0-081C-53B5-85B49473C71A}"/>
              </a:ext>
            </a:extLst>
          </p:cNvPr>
          <p:cNvSpPr/>
          <p:nvPr/>
        </p:nvSpPr>
        <p:spPr>
          <a:xfrm>
            <a:off x="589737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연혁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9751B0D-C9C4-D7A4-084D-31B9835406C1}"/>
              </a:ext>
            </a:extLst>
          </p:cNvPr>
          <p:cNvSpPr/>
          <p:nvPr/>
        </p:nvSpPr>
        <p:spPr>
          <a:xfrm>
            <a:off x="694139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조직도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491464E-549D-A595-D9D9-C223C7732643}"/>
              </a:ext>
            </a:extLst>
          </p:cNvPr>
          <p:cNvSpPr/>
          <p:nvPr/>
        </p:nvSpPr>
        <p:spPr>
          <a:xfrm>
            <a:off x="798541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면허보유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8F12AF0-CEB0-5948-79D8-22371C00031D}"/>
              </a:ext>
            </a:extLst>
          </p:cNvPr>
          <p:cNvSpPr/>
          <p:nvPr/>
        </p:nvSpPr>
        <p:spPr>
          <a:xfrm>
            <a:off x="9024950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장비보유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040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4CA0E-8254-B0EC-D870-C778FC31A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D2BBCD-17D6-7DD6-1939-D66339EF540E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DB0337-AEF5-FE44-C48A-6FEFB040D7E6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회사소개</a:t>
            </a:r>
            <a:r>
              <a:rPr lang="en-US" altLang="ko-KR" sz="1200" b="1" dirty="0"/>
              <a:t> - </a:t>
            </a:r>
            <a:r>
              <a:rPr lang="ko-KR" altLang="en-US" sz="1200" b="1" dirty="0"/>
              <a:t>연혁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CAF28E-2A87-40FD-63C8-76AA885FF823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054F01F-2DD2-DF4F-DF74-41F01447444B}"/>
              </a:ext>
            </a:extLst>
          </p:cNvPr>
          <p:cNvSpPr/>
          <p:nvPr/>
        </p:nvSpPr>
        <p:spPr>
          <a:xfrm>
            <a:off x="5897379" y="1168709"/>
            <a:ext cx="942976" cy="402916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연혁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F085F5B-19FA-DB62-0A72-482335D4F029}"/>
              </a:ext>
            </a:extLst>
          </p:cNvPr>
          <p:cNvSpPr/>
          <p:nvPr/>
        </p:nvSpPr>
        <p:spPr>
          <a:xfrm>
            <a:off x="10068970" y="1371862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회사소개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연혁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D918592-EB10-38CF-4FE4-B239BE6AEE08}"/>
              </a:ext>
            </a:extLst>
          </p:cNvPr>
          <p:cNvSpPr/>
          <p:nvPr/>
        </p:nvSpPr>
        <p:spPr>
          <a:xfrm>
            <a:off x="380933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인사말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A5C7ECF-D704-F387-884A-29D9665DD40B}"/>
              </a:ext>
            </a:extLst>
          </p:cNvPr>
          <p:cNvSpPr/>
          <p:nvPr/>
        </p:nvSpPr>
        <p:spPr>
          <a:xfrm>
            <a:off x="620170" y="2188182"/>
            <a:ext cx="11190231" cy="375541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2026. 05. </a:t>
            </a:r>
            <a:r>
              <a:rPr lang="ko-KR" altLang="en-US" sz="1200" b="1" dirty="0">
                <a:solidFill>
                  <a:schemeClr val="tx1"/>
                </a:solidFill>
              </a:rPr>
              <a:t>특허 등록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717550">
              <a:tabLst>
                <a:tab pos="88900" algn="l"/>
              </a:tabLst>
            </a:pPr>
            <a:r>
              <a:rPr lang="ko-KR" altLang="en-US" sz="1200" b="1" dirty="0">
                <a:solidFill>
                  <a:schemeClr val="tx1"/>
                </a:solidFill>
              </a:rPr>
              <a:t>제</a:t>
            </a:r>
            <a:r>
              <a:rPr lang="en-US" altLang="ko-KR" sz="1200" b="1" dirty="0">
                <a:solidFill>
                  <a:schemeClr val="tx1"/>
                </a:solidFill>
              </a:rPr>
              <a:t>10-2966022</a:t>
            </a:r>
            <a:r>
              <a:rPr lang="ko-KR" altLang="en-US" sz="1200" b="1" dirty="0">
                <a:solidFill>
                  <a:schemeClr val="tx1"/>
                </a:solidFill>
              </a:rPr>
              <a:t>호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고강도 합성 단면 </a:t>
            </a:r>
            <a:r>
              <a:rPr lang="ko-KR" altLang="en-US" sz="1200" b="1" dirty="0" err="1">
                <a:solidFill>
                  <a:schemeClr val="tx1"/>
                </a:solidFill>
              </a:rPr>
              <a:t>버팀보</a:t>
            </a:r>
            <a:r>
              <a:rPr lang="ko-KR" altLang="en-US" sz="1200" b="1" dirty="0">
                <a:solidFill>
                  <a:schemeClr val="tx1"/>
                </a:solidFill>
              </a:rPr>
              <a:t> 적용 </a:t>
            </a:r>
            <a:r>
              <a:rPr lang="ko-KR" altLang="en-US" sz="1200" b="1" dirty="0" err="1">
                <a:solidFill>
                  <a:schemeClr val="tx1"/>
                </a:solidFill>
              </a:rPr>
              <a:t>흙막이</a:t>
            </a:r>
            <a:r>
              <a:rPr lang="ko-KR" altLang="en-US" sz="1200" b="1" dirty="0">
                <a:solidFill>
                  <a:schemeClr val="tx1"/>
                </a:solidFill>
              </a:rPr>
              <a:t> 벽 시공용 </a:t>
            </a:r>
            <a:r>
              <a:rPr lang="ko-KR" altLang="en-US" sz="1200" b="1" dirty="0" err="1">
                <a:solidFill>
                  <a:schemeClr val="tx1"/>
                </a:solidFill>
              </a:rPr>
              <a:t>지보공</a:t>
            </a:r>
            <a:r>
              <a:rPr lang="ko-KR" altLang="en-US" sz="1200" b="1" dirty="0">
                <a:solidFill>
                  <a:schemeClr val="tx1"/>
                </a:solidFill>
              </a:rPr>
              <a:t> 구조물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b="1" dirty="0">
              <a:solidFill>
                <a:schemeClr val="tx1"/>
              </a:solidFill>
            </a:endParaRPr>
          </a:p>
          <a:p>
            <a:r>
              <a:rPr lang="en-US" altLang="ko-KR" sz="1200" b="1" dirty="0">
                <a:solidFill>
                  <a:schemeClr val="tx1"/>
                </a:solidFill>
              </a:rPr>
              <a:t>2026. 04. </a:t>
            </a:r>
            <a:r>
              <a:rPr lang="ko-KR" altLang="en-US" sz="1200" b="1" dirty="0">
                <a:solidFill>
                  <a:schemeClr val="tx1"/>
                </a:solidFill>
              </a:rPr>
              <a:t>안전진단전문기관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건축</a:t>
            </a:r>
            <a:r>
              <a:rPr lang="en-US" altLang="ko-KR" sz="1200" b="1" dirty="0">
                <a:solidFill>
                  <a:schemeClr val="tx1"/>
                </a:solidFill>
              </a:rPr>
              <a:t>) </a:t>
            </a:r>
            <a:r>
              <a:rPr lang="ko-KR" altLang="en-US" sz="1200" b="1" dirty="0">
                <a:solidFill>
                  <a:schemeClr val="tx1"/>
                </a:solidFill>
              </a:rPr>
              <a:t>등록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717550"/>
            <a:r>
              <a:rPr lang="ko-KR" altLang="en-US" sz="1200" b="1" dirty="0">
                <a:solidFill>
                  <a:schemeClr val="tx1"/>
                </a:solidFill>
              </a:rPr>
              <a:t>등록번호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서울</a:t>
            </a:r>
            <a:r>
              <a:rPr lang="en-US" altLang="ko-KR" sz="1200" b="1" dirty="0">
                <a:solidFill>
                  <a:schemeClr val="tx1"/>
                </a:solidFill>
              </a:rPr>
              <a:t>-489</a:t>
            </a:r>
            <a:r>
              <a:rPr lang="ko-KR" altLang="en-US" sz="1200" b="1" dirty="0">
                <a:solidFill>
                  <a:schemeClr val="tx1"/>
                </a:solidFill>
              </a:rPr>
              <a:t>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717550"/>
            <a:endParaRPr lang="en-US" altLang="ko-KR" sz="1200" b="1" dirty="0">
              <a:solidFill>
                <a:schemeClr val="tx1"/>
              </a:solidFill>
            </a:endParaRPr>
          </a:p>
          <a:p>
            <a:r>
              <a:rPr lang="en-US" altLang="ko-KR" sz="1200" b="1" dirty="0">
                <a:solidFill>
                  <a:schemeClr val="tx1"/>
                </a:solidFill>
              </a:rPr>
              <a:t>2025. 12. </a:t>
            </a:r>
            <a:r>
              <a:rPr lang="ko-KR" altLang="en-US" sz="1200" b="1" dirty="0">
                <a:solidFill>
                  <a:schemeClr val="tx1"/>
                </a:solidFill>
              </a:rPr>
              <a:t>혁신성장유형 벤처기업 인증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b="1" dirty="0">
              <a:solidFill>
                <a:schemeClr val="tx1"/>
              </a:solidFill>
            </a:endParaRPr>
          </a:p>
          <a:p>
            <a:r>
              <a:rPr lang="en-US" altLang="ko-KR" sz="1200" b="1" dirty="0">
                <a:solidFill>
                  <a:schemeClr val="tx1"/>
                </a:solidFill>
              </a:rPr>
              <a:t>2025. 10. ISO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9001, 14001 </a:t>
            </a:r>
            <a:r>
              <a:rPr lang="ko-KR" altLang="en-US" sz="1200" b="1" dirty="0">
                <a:solidFill>
                  <a:schemeClr val="tx1"/>
                </a:solidFill>
              </a:rPr>
              <a:t>인증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b="1" dirty="0">
              <a:solidFill>
                <a:schemeClr val="tx1"/>
              </a:solidFill>
            </a:endParaRPr>
          </a:p>
          <a:p>
            <a:r>
              <a:rPr lang="en-US" altLang="ko-KR" sz="1200" b="1" dirty="0">
                <a:solidFill>
                  <a:schemeClr val="tx1"/>
                </a:solidFill>
              </a:rPr>
              <a:t>2023.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03. </a:t>
            </a:r>
            <a:r>
              <a:rPr lang="ko-KR" altLang="en-US" sz="1200" b="1" dirty="0">
                <a:solidFill>
                  <a:schemeClr val="tx1"/>
                </a:solidFill>
              </a:rPr>
              <a:t>설립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717550"/>
            <a:r>
              <a:rPr lang="ko-KR" altLang="en-US" sz="1200" b="1" dirty="0">
                <a:solidFill>
                  <a:schemeClr val="tx1"/>
                </a:solidFill>
              </a:rPr>
              <a:t>기술사사무소 등록번호 </a:t>
            </a:r>
            <a:r>
              <a:rPr lang="en-US" altLang="ko-KR" sz="1200" b="1" dirty="0">
                <a:solidFill>
                  <a:schemeClr val="tx1"/>
                </a:solidFill>
              </a:rPr>
              <a:t>: 2019-1204</a:t>
            </a:r>
          </a:p>
          <a:p>
            <a:pPr marL="717550"/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261B357-3F4B-7089-3395-E365A5ACC3AB}"/>
              </a:ext>
            </a:extLst>
          </p:cNvPr>
          <p:cNvSpPr/>
          <p:nvPr/>
        </p:nvSpPr>
        <p:spPr>
          <a:xfrm>
            <a:off x="485335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기업이념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8BC67CB-EAEB-3BA9-1AE4-4E1A03661E39}"/>
              </a:ext>
            </a:extLst>
          </p:cNvPr>
          <p:cNvSpPr/>
          <p:nvPr/>
        </p:nvSpPr>
        <p:spPr>
          <a:xfrm>
            <a:off x="694139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조직도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5D1F911-7579-F642-D006-21AABE7262C6}"/>
              </a:ext>
            </a:extLst>
          </p:cNvPr>
          <p:cNvSpPr/>
          <p:nvPr/>
        </p:nvSpPr>
        <p:spPr>
          <a:xfrm>
            <a:off x="798541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면허보유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0F0E897-1EB0-81DB-F2A4-7A0B32C7B727}"/>
              </a:ext>
            </a:extLst>
          </p:cNvPr>
          <p:cNvSpPr/>
          <p:nvPr/>
        </p:nvSpPr>
        <p:spPr>
          <a:xfrm>
            <a:off x="9024950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장비보유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11398FF-BE9F-A842-1FB7-969532CBE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546" y="4676465"/>
            <a:ext cx="884906" cy="126136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81082D4-D41E-D5B1-48C9-C9543AD94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559" y="4701905"/>
            <a:ext cx="865444" cy="123592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1D8D0B1-7FCB-41E2-3F62-E351477DB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110" y="4670696"/>
            <a:ext cx="899786" cy="127290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B66C770-9EE1-8493-2D27-5D43353CCED8}"/>
              </a:ext>
            </a:extLst>
          </p:cNvPr>
          <p:cNvSpPr/>
          <p:nvPr/>
        </p:nvSpPr>
        <p:spPr>
          <a:xfrm>
            <a:off x="1470710" y="4901563"/>
            <a:ext cx="9278288" cy="787728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 dirty="0"/>
              <a:t>벤처기업인증서</a:t>
            </a:r>
            <a:r>
              <a:rPr lang="en-US" altLang="ko-KR" sz="1200" dirty="0"/>
              <a:t>, ISO</a:t>
            </a:r>
            <a:r>
              <a:rPr lang="ko-KR" altLang="en-US" sz="1200" dirty="0"/>
              <a:t>인증서</a:t>
            </a:r>
            <a:r>
              <a:rPr lang="en-US" altLang="ko-KR" sz="1200" dirty="0"/>
              <a:t>, </a:t>
            </a:r>
            <a:r>
              <a:rPr lang="ko-KR" altLang="en-US" sz="1200" dirty="0"/>
              <a:t>기업부설연구소 인정서 하단 개별 첨부</a:t>
            </a:r>
            <a:endParaRPr lang="en-US" altLang="ko-KR" sz="1200" dirty="0"/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5C04A66A-C793-EEE2-DF97-17A7F0591A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37290"/>
              </p:ext>
            </p:extLst>
          </p:nvPr>
        </p:nvGraphicFramePr>
        <p:xfrm>
          <a:off x="10748998" y="454734"/>
          <a:ext cx="12573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1257257" imgH="514350" progId="Package">
                  <p:embed/>
                </p:oleObj>
              </mc:Choice>
              <mc:Fallback>
                <p:oleObj name="포장기 셸 개체" showAsIcon="1" r:id="rId5" imgW="125725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48998" y="454734"/>
                        <a:ext cx="12573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377C5D75-A94A-3D2F-7852-A79C87DB9E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50416"/>
              </p:ext>
            </p:extLst>
          </p:nvPr>
        </p:nvGraphicFramePr>
        <p:xfrm>
          <a:off x="8139125" y="437785"/>
          <a:ext cx="27146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7" imgW="2714744" imgH="514350" progId="Package">
                  <p:embed/>
                </p:oleObj>
              </mc:Choice>
              <mc:Fallback>
                <p:oleObj name="포장기 셸 개체" showAsIcon="1" r:id="rId7" imgW="27147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39125" y="437785"/>
                        <a:ext cx="27146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7268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EFEE6-A0F5-6405-1AB5-9BB3593B2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43F16A-A8B1-6E58-FEB5-798BB53188A9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5738AB-384C-EEAF-4AFC-37D5E7455E0D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회사소개</a:t>
            </a:r>
            <a:r>
              <a:rPr lang="en-US" altLang="ko-KR" sz="1200" b="1" dirty="0"/>
              <a:t> - </a:t>
            </a:r>
            <a:r>
              <a:rPr lang="ko-KR" altLang="en-US" sz="1200" b="1" dirty="0"/>
              <a:t>조직도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253199-720D-C1C7-C54C-0F0DBFBB4309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DC7DC3E-C4E0-6826-2EF2-9E21D2F032EF}"/>
              </a:ext>
            </a:extLst>
          </p:cNvPr>
          <p:cNvSpPr/>
          <p:nvPr/>
        </p:nvSpPr>
        <p:spPr>
          <a:xfrm>
            <a:off x="6943644" y="1143509"/>
            <a:ext cx="942976" cy="402916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조직도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D5942BD-D68F-38B6-98FB-1C21398AECA4}"/>
              </a:ext>
            </a:extLst>
          </p:cNvPr>
          <p:cNvSpPr/>
          <p:nvPr/>
        </p:nvSpPr>
        <p:spPr>
          <a:xfrm>
            <a:off x="10068970" y="1371862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회사소개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조직도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E9D4DD7-4CB6-432A-49DA-D0F12AA039D0}"/>
              </a:ext>
            </a:extLst>
          </p:cNvPr>
          <p:cNvSpPr/>
          <p:nvPr/>
        </p:nvSpPr>
        <p:spPr>
          <a:xfrm>
            <a:off x="380933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인사말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1EF18B5-9665-2DAB-A404-6416095D9088}"/>
              </a:ext>
            </a:extLst>
          </p:cNvPr>
          <p:cNvSpPr/>
          <p:nvPr/>
        </p:nvSpPr>
        <p:spPr>
          <a:xfrm>
            <a:off x="5684741" y="1960011"/>
            <a:ext cx="822518" cy="822518"/>
          </a:xfrm>
          <a:prstGeom prst="ellipse">
            <a:avLst/>
          </a:prstGeom>
          <a:solidFill>
            <a:srgbClr val="A4C4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/>
              <a:t>대표이사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E4D0ABD-7781-65A6-009B-EDF2383FE9D9}"/>
              </a:ext>
            </a:extLst>
          </p:cNvPr>
          <p:cNvSpPr/>
          <p:nvPr/>
        </p:nvSpPr>
        <p:spPr>
          <a:xfrm>
            <a:off x="4030841" y="4489057"/>
            <a:ext cx="822518" cy="822518"/>
          </a:xfrm>
          <a:prstGeom prst="ellipse">
            <a:avLst/>
          </a:prstGeom>
          <a:solidFill>
            <a:srgbClr val="A4C4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/>
              <a:t>법원감정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593635B-9B2A-4135-95BC-B55D9A3606B9}"/>
              </a:ext>
            </a:extLst>
          </p:cNvPr>
          <p:cNvSpPr/>
          <p:nvPr/>
        </p:nvSpPr>
        <p:spPr>
          <a:xfrm>
            <a:off x="2376941" y="4489057"/>
            <a:ext cx="822518" cy="822518"/>
          </a:xfrm>
          <a:prstGeom prst="ellipse">
            <a:avLst/>
          </a:prstGeom>
          <a:solidFill>
            <a:srgbClr val="A4C4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/>
              <a:t>안전진단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72690BA-D8A4-CD48-7E2B-C424DFE58DD6}"/>
              </a:ext>
            </a:extLst>
          </p:cNvPr>
          <p:cNvSpPr/>
          <p:nvPr/>
        </p:nvSpPr>
        <p:spPr>
          <a:xfrm>
            <a:off x="5684741" y="4489057"/>
            <a:ext cx="822518" cy="822518"/>
          </a:xfrm>
          <a:prstGeom prst="ellipse">
            <a:avLst/>
          </a:prstGeom>
          <a:solidFill>
            <a:srgbClr val="A4C4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/>
              <a:t>원가계산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1FC677D-4B13-F62C-178F-62CC6537BD56}"/>
              </a:ext>
            </a:extLst>
          </p:cNvPr>
          <p:cNvSpPr/>
          <p:nvPr/>
        </p:nvSpPr>
        <p:spPr>
          <a:xfrm>
            <a:off x="7338641" y="4489057"/>
            <a:ext cx="822518" cy="822518"/>
          </a:xfrm>
          <a:prstGeom prst="ellipse">
            <a:avLst/>
          </a:prstGeom>
          <a:solidFill>
            <a:srgbClr val="A4C4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/>
              <a:t>구조</a:t>
            </a:r>
            <a:endParaRPr lang="ko-KR" altLang="en-US" sz="11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596B85C-476E-732D-66AF-FED39D2A329E}"/>
              </a:ext>
            </a:extLst>
          </p:cNvPr>
          <p:cNvSpPr/>
          <p:nvPr/>
        </p:nvSpPr>
        <p:spPr>
          <a:xfrm>
            <a:off x="8992541" y="4489057"/>
            <a:ext cx="822518" cy="822518"/>
          </a:xfrm>
          <a:prstGeom prst="ellipse">
            <a:avLst/>
          </a:prstGeom>
          <a:solidFill>
            <a:srgbClr val="A4C4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/>
              <a:t>경영지원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1753964-F7F6-B516-9E5C-CEA46A3B6B2D}"/>
              </a:ext>
            </a:extLst>
          </p:cNvPr>
          <p:cNvSpPr/>
          <p:nvPr/>
        </p:nvSpPr>
        <p:spPr>
          <a:xfrm>
            <a:off x="6786034" y="3016427"/>
            <a:ext cx="2183519" cy="41257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기업부설연구소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973610D-670E-FE20-3B5F-A26CC22198A6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6096000" y="2782529"/>
            <a:ext cx="0" cy="17065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1E2CBE3-E5D4-485E-DA08-EAE4A3497B29}"/>
              </a:ext>
            </a:extLst>
          </p:cNvPr>
          <p:cNvCxnSpPr>
            <a:cxnSpLocks/>
          </p:cNvCxnSpPr>
          <p:nvPr/>
        </p:nvCxnSpPr>
        <p:spPr>
          <a:xfrm>
            <a:off x="2765319" y="3706761"/>
            <a:ext cx="66466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295B74B-2F24-AAFD-56C1-3625993B9294}"/>
              </a:ext>
            </a:extLst>
          </p:cNvPr>
          <p:cNvCxnSpPr>
            <a:cxnSpLocks/>
          </p:cNvCxnSpPr>
          <p:nvPr/>
        </p:nvCxnSpPr>
        <p:spPr>
          <a:xfrm>
            <a:off x="2765319" y="3706761"/>
            <a:ext cx="0" cy="782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BEC380B-7156-AB51-38D7-E34D644DF1FF}"/>
              </a:ext>
            </a:extLst>
          </p:cNvPr>
          <p:cNvCxnSpPr>
            <a:cxnSpLocks/>
          </p:cNvCxnSpPr>
          <p:nvPr/>
        </p:nvCxnSpPr>
        <p:spPr>
          <a:xfrm>
            <a:off x="4456467" y="3706761"/>
            <a:ext cx="0" cy="782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889BBDE-59DE-1D75-BB5F-FD0CB87C5BC2}"/>
              </a:ext>
            </a:extLst>
          </p:cNvPr>
          <p:cNvCxnSpPr>
            <a:cxnSpLocks/>
          </p:cNvCxnSpPr>
          <p:nvPr/>
        </p:nvCxnSpPr>
        <p:spPr>
          <a:xfrm>
            <a:off x="7720777" y="3706761"/>
            <a:ext cx="0" cy="782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37B047E-BAA0-C9E3-8265-61B6032BF46F}"/>
              </a:ext>
            </a:extLst>
          </p:cNvPr>
          <p:cNvCxnSpPr>
            <a:cxnSpLocks/>
          </p:cNvCxnSpPr>
          <p:nvPr/>
        </p:nvCxnSpPr>
        <p:spPr>
          <a:xfrm>
            <a:off x="9411925" y="3706761"/>
            <a:ext cx="0" cy="782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28A28CE-D7E5-DD2B-CBD4-77DA9D651B89}"/>
              </a:ext>
            </a:extLst>
          </p:cNvPr>
          <p:cNvCxnSpPr>
            <a:cxnSpLocks/>
          </p:cNvCxnSpPr>
          <p:nvPr/>
        </p:nvCxnSpPr>
        <p:spPr>
          <a:xfrm>
            <a:off x="6096000" y="3242160"/>
            <a:ext cx="6810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B2A76F1-5A7C-5252-818B-8EA1681AF600}"/>
              </a:ext>
            </a:extLst>
          </p:cNvPr>
          <p:cNvSpPr/>
          <p:nvPr/>
        </p:nvSpPr>
        <p:spPr>
          <a:xfrm>
            <a:off x="2360025" y="3290070"/>
            <a:ext cx="7455034" cy="787728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/>
              <a:t>디자인 맥락상 적절한 형태로 도형화</a:t>
            </a:r>
            <a:endParaRPr lang="en-US" altLang="ko-KR" sz="12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98EE4FF-3B56-7C4D-BC1C-B21DCF2FEA4A}"/>
              </a:ext>
            </a:extLst>
          </p:cNvPr>
          <p:cNvSpPr/>
          <p:nvPr/>
        </p:nvSpPr>
        <p:spPr>
          <a:xfrm>
            <a:off x="485335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기업이념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486FFAA-E50A-CDEC-49CA-012120C1ACCE}"/>
              </a:ext>
            </a:extLst>
          </p:cNvPr>
          <p:cNvSpPr/>
          <p:nvPr/>
        </p:nvSpPr>
        <p:spPr>
          <a:xfrm>
            <a:off x="589737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연혁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D552282-E048-2194-30DB-C4980877B73F}"/>
              </a:ext>
            </a:extLst>
          </p:cNvPr>
          <p:cNvSpPr/>
          <p:nvPr/>
        </p:nvSpPr>
        <p:spPr>
          <a:xfrm>
            <a:off x="798541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면허보유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FB91B41-1D01-F148-7C78-3C992A66CF77}"/>
              </a:ext>
            </a:extLst>
          </p:cNvPr>
          <p:cNvSpPr/>
          <p:nvPr/>
        </p:nvSpPr>
        <p:spPr>
          <a:xfrm>
            <a:off x="9024950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장비보유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824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64D72-EDED-2037-0A14-6DE03BDE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411CBE-DE93-DAD1-2438-C581AEB8E17D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7E8876-F94A-AC5A-51C0-2DFD45235456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회사소개</a:t>
            </a:r>
            <a:r>
              <a:rPr lang="en-US" altLang="ko-KR" sz="1200" b="1" dirty="0"/>
              <a:t> - </a:t>
            </a:r>
            <a:r>
              <a:rPr lang="ko-KR" altLang="en-US" sz="1200" b="1" dirty="0"/>
              <a:t>기술보유현황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DE42EA-211E-2907-91BF-D9E5EB5339A5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E4880B2-3303-56B3-830B-54C60F60ADB9}"/>
              </a:ext>
            </a:extLst>
          </p:cNvPr>
          <p:cNvSpPr/>
          <p:nvPr/>
        </p:nvSpPr>
        <p:spPr>
          <a:xfrm>
            <a:off x="7980930" y="1168709"/>
            <a:ext cx="942976" cy="402916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면허보유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FFC92A8-AFF6-EB12-A81A-B85EEEC5BDA8}"/>
              </a:ext>
            </a:extLst>
          </p:cNvPr>
          <p:cNvSpPr/>
          <p:nvPr/>
        </p:nvSpPr>
        <p:spPr>
          <a:xfrm>
            <a:off x="10068970" y="1371862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회사소개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기술보유현황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52FD850-F63C-5BE3-BBB7-803B3E52DD1C}"/>
              </a:ext>
            </a:extLst>
          </p:cNvPr>
          <p:cNvSpPr/>
          <p:nvPr/>
        </p:nvSpPr>
        <p:spPr>
          <a:xfrm>
            <a:off x="485335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기업이념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B3D26D5-7B56-D3EB-95C9-B6F6752BE274}"/>
              </a:ext>
            </a:extLst>
          </p:cNvPr>
          <p:cNvSpPr/>
          <p:nvPr/>
        </p:nvSpPr>
        <p:spPr>
          <a:xfrm>
            <a:off x="589737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연혁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6C61F5F-5F4E-2882-5CCD-63503542EB36}"/>
              </a:ext>
            </a:extLst>
          </p:cNvPr>
          <p:cNvSpPr/>
          <p:nvPr/>
        </p:nvSpPr>
        <p:spPr>
          <a:xfrm>
            <a:off x="694139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조직도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8EB320B-C66A-4F81-97A8-2F0DB6288CEB}"/>
              </a:ext>
            </a:extLst>
          </p:cNvPr>
          <p:cNvSpPr/>
          <p:nvPr/>
        </p:nvSpPr>
        <p:spPr>
          <a:xfrm>
            <a:off x="9024950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장비보유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9B2B313-1C2A-6E48-AF1B-0BDAB599ACE4}"/>
              </a:ext>
            </a:extLst>
          </p:cNvPr>
          <p:cNvSpPr/>
          <p:nvPr/>
        </p:nvSpPr>
        <p:spPr>
          <a:xfrm>
            <a:off x="2831062" y="2176515"/>
            <a:ext cx="1433457" cy="2218504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</a:rPr>
              <a:t>면허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1453847-D157-4513-632C-D038795F2077}"/>
              </a:ext>
            </a:extLst>
          </p:cNvPr>
          <p:cNvSpPr/>
          <p:nvPr/>
        </p:nvSpPr>
        <p:spPr>
          <a:xfrm>
            <a:off x="4662543" y="2176515"/>
            <a:ext cx="1433457" cy="2218504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</a:rPr>
              <a:t>면허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CC5E6F5-9972-0AEC-3236-9672053720DE}"/>
              </a:ext>
            </a:extLst>
          </p:cNvPr>
          <p:cNvSpPr/>
          <p:nvPr/>
        </p:nvSpPr>
        <p:spPr>
          <a:xfrm>
            <a:off x="6494024" y="2176515"/>
            <a:ext cx="1433457" cy="2218504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</a:rPr>
              <a:t>면허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238535C-743F-069E-76F3-E6385942AFDE}"/>
              </a:ext>
            </a:extLst>
          </p:cNvPr>
          <p:cNvSpPr/>
          <p:nvPr/>
        </p:nvSpPr>
        <p:spPr>
          <a:xfrm>
            <a:off x="8325505" y="2176515"/>
            <a:ext cx="1433457" cy="2218504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</a:rPr>
              <a:t>면허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991A6-5A48-9C5A-FE63-8CC2256ED0C1}"/>
              </a:ext>
            </a:extLst>
          </p:cNvPr>
          <p:cNvSpPr txBox="1"/>
          <p:nvPr/>
        </p:nvSpPr>
        <p:spPr>
          <a:xfrm>
            <a:off x="2962771" y="4519103"/>
            <a:ext cx="1170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면허명</a:t>
            </a:r>
            <a:endParaRPr lang="ko-KR" altLang="en-US" sz="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F9FD54-CEEC-0401-FAF1-7553A189F553}"/>
              </a:ext>
            </a:extLst>
          </p:cNvPr>
          <p:cNvSpPr txBox="1"/>
          <p:nvPr/>
        </p:nvSpPr>
        <p:spPr>
          <a:xfrm>
            <a:off x="4794252" y="4519103"/>
            <a:ext cx="1170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면허명</a:t>
            </a:r>
            <a:endParaRPr lang="ko-KR" altLang="en-US" sz="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461F4-9E64-8C23-1A4C-358394A907D8}"/>
              </a:ext>
            </a:extLst>
          </p:cNvPr>
          <p:cNvSpPr txBox="1"/>
          <p:nvPr/>
        </p:nvSpPr>
        <p:spPr>
          <a:xfrm>
            <a:off x="6625733" y="4519103"/>
            <a:ext cx="1170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면허명</a:t>
            </a:r>
            <a:endParaRPr lang="ko-KR" altLang="en-US" sz="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0B0F5D-8720-AEBB-7BA3-8DEEC44464C8}"/>
              </a:ext>
            </a:extLst>
          </p:cNvPr>
          <p:cNvSpPr txBox="1"/>
          <p:nvPr/>
        </p:nvSpPr>
        <p:spPr>
          <a:xfrm>
            <a:off x="8338887" y="4519103"/>
            <a:ext cx="1170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면허명</a:t>
            </a:r>
            <a:endParaRPr lang="ko-KR" altLang="en-US" sz="800" b="1" dirty="0"/>
          </a:p>
        </p:txBody>
      </p:sp>
      <p:graphicFrame>
        <p:nvGraphicFramePr>
          <p:cNvPr id="20" name="개체 19">
            <a:extLst>
              <a:ext uri="{FF2B5EF4-FFF2-40B4-BE49-F238E27FC236}">
                <a16:creationId xmlns:a16="http://schemas.microsoft.com/office/drawing/2014/main" id="{95DFB223-1BCA-4B08-0EF8-CA42E801F8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764675"/>
              </p:ext>
            </p:extLst>
          </p:nvPr>
        </p:nvGraphicFramePr>
        <p:xfrm>
          <a:off x="6573633" y="444867"/>
          <a:ext cx="31623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2" imgW="3162401" imgH="514350" progId="Package">
                  <p:embed/>
                </p:oleObj>
              </mc:Choice>
              <mc:Fallback>
                <p:oleObj name="포장기 셸 개체" showAsIcon="1" r:id="rId2" imgW="316240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73633" y="444867"/>
                        <a:ext cx="31623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개체 20">
            <a:extLst>
              <a:ext uri="{FF2B5EF4-FFF2-40B4-BE49-F238E27FC236}">
                <a16:creationId xmlns:a16="http://schemas.microsoft.com/office/drawing/2014/main" id="{48BFA7D1-F687-F875-812F-FCB46EDE5E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485047"/>
              </p:ext>
            </p:extLst>
          </p:nvPr>
        </p:nvGraphicFramePr>
        <p:xfrm>
          <a:off x="11238901" y="434659"/>
          <a:ext cx="685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4" imgW="685713" imgH="514350" progId="Package">
                  <p:embed/>
                </p:oleObj>
              </mc:Choice>
              <mc:Fallback>
                <p:oleObj name="포장기 셸 개체" showAsIcon="1" r:id="rId4" imgW="685713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238901" y="434659"/>
                        <a:ext cx="6858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개체 21">
            <a:extLst>
              <a:ext uri="{FF2B5EF4-FFF2-40B4-BE49-F238E27FC236}">
                <a16:creationId xmlns:a16="http://schemas.microsoft.com/office/drawing/2014/main" id="{D67A58D2-D710-687F-29A7-3A72E4F578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332301"/>
              </p:ext>
            </p:extLst>
          </p:nvPr>
        </p:nvGraphicFramePr>
        <p:xfrm>
          <a:off x="9410101" y="450757"/>
          <a:ext cx="1828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6" imgW="1828800" imgH="514350" progId="Package">
                  <p:embed/>
                </p:oleObj>
              </mc:Choice>
              <mc:Fallback>
                <p:oleObj name="포장기 셸 개체" showAsIcon="1" r:id="rId6" imgW="182880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10101" y="450757"/>
                        <a:ext cx="18288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783E77B0-F9C3-2D37-CC9A-0DC6B7C783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2660" y="2446115"/>
            <a:ext cx="1110260" cy="158362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FC2ADD5-BF03-2D5D-A379-287465A3E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1972" y="2479370"/>
            <a:ext cx="1132760" cy="161279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B17DBC4-119F-90AA-CC2A-6E0A7483F8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1858" y="2479370"/>
            <a:ext cx="1078920" cy="1517116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3CA474-89C8-AF35-425E-7473FEA0935E}"/>
              </a:ext>
            </a:extLst>
          </p:cNvPr>
          <p:cNvSpPr/>
          <p:nvPr/>
        </p:nvSpPr>
        <p:spPr>
          <a:xfrm>
            <a:off x="1729723" y="3854485"/>
            <a:ext cx="9278288" cy="787728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 dirty="0"/>
              <a:t>기술사사무소 등록증</a:t>
            </a:r>
            <a:r>
              <a:rPr lang="en-US" altLang="ko-KR" sz="1200" dirty="0"/>
              <a:t>, </a:t>
            </a:r>
            <a:r>
              <a:rPr lang="ko-KR" altLang="en-US" sz="1200" dirty="0"/>
              <a:t>안전진단전문기관 등록증</a:t>
            </a:r>
            <a:r>
              <a:rPr lang="en-US" altLang="ko-KR" sz="1200" dirty="0"/>
              <a:t>, </a:t>
            </a:r>
            <a:r>
              <a:rPr lang="ko-KR" altLang="en-US" sz="1200" dirty="0"/>
              <a:t>원가계산용역기관 등록증</a:t>
            </a:r>
            <a:r>
              <a:rPr lang="en-US" altLang="ko-KR" sz="1200" dirty="0"/>
              <a:t>, </a:t>
            </a:r>
            <a:r>
              <a:rPr lang="ko-KR" altLang="en-US" sz="1200" dirty="0"/>
              <a:t>엔지니어링사업자신고증</a:t>
            </a:r>
            <a:r>
              <a:rPr lang="en-US" altLang="ko-KR" sz="1200" dirty="0"/>
              <a:t>, </a:t>
            </a:r>
            <a:r>
              <a:rPr lang="ko-KR" altLang="en-US" sz="1200" dirty="0"/>
              <a:t>특허증 등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832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3FA8-2125-E9EA-9ABF-3FF35A2E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3C501A-5341-CB09-8A0C-CD0219A4DBF9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2271B0-4716-20C6-287A-915C15882F8E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회사소개</a:t>
            </a:r>
            <a:r>
              <a:rPr lang="en-US" altLang="ko-KR" sz="1200" b="1" dirty="0"/>
              <a:t> - </a:t>
            </a:r>
            <a:r>
              <a:rPr lang="ko-KR" altLang="en-US" sz="1200" b="1" dirty="0"/>
              <a:t>장비보유현황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197734-BD52-FAA7-BDF2-51014999FB43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A0EDD3D-5D17-2065-6BDC-8FCDAE5B38CB}"/>
              </a:ext>
            </a:extLst>
          </p:cNvPr>
          <p:cNvSpPr/>
          <p:nvPr/>
        </p:nvSpPr>
        <p:spPr>
          <a:xfrm>
            <a:off x="9024950" y="1168709"/>
            <a:ext cx="942976" cy="402916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장비보유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4B58E29-2B23-F390-178E-5D6284884D53}"/>
              </a:ext>
            </a:extLst>
          </p:cNvPr>
          <p:cNvSpPr/>
          <p:nvPr/>
        </p:nvSpPr>
        <p:spPr>
          <a:xfrm>
            <a:off x="10068970" y="1371862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회사소개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장비보유현황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1056E5E-E249-379D-CF8B-51B7EF5F0D4A}"/>
              </a:ext>
            </a:extLst>
          </p:cNvPr>
          <p:cNvSpPr/>
          <p:nvPr/>
        </p:nvSpPr>
        <p:spPr>
          <a:xfrm>
            <a:off x="485335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기업이념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0E055E7-9CE4-8A98-7387-3DC1F32CAD12}"/>
              </a:ext>
            </a:extLst>
          </p:cNvPr>
          <p:cNvSpPr/>
          <p:nvPr/>
        </p:nvSpPr>
        <p:spPr>
          <a:xfrm>
            <a:off x="589737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연혁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668CB4-5D6B-015C-E5E4-F675C2D59F3D}"/>
              </a:ext>
            </a:extLst>
          </p:cNvPr>
          <p:cNvSpPr/>
          <p:nvPr/>
        </p:nvSpPr>
        <p:spPr>
          <a:xfrm>
            <a:off x="694139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조직도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B8A1612-F801-6626-A50D-D0F394D2BC86}"/>
              </a:ext>
            </a:extLst>
          </p:cNvPr>
          <p:cNvSpPr/>
          <p:nvPr/>
        </p:nvSpPr>
        <p:spPr>
          <a:xfrm>
            <a:off x="7985419" y="1168709"/>
            <a:ext cx="942976" cy="40291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면허보유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현황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47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6EFF3-64F8-EC25-A9E5-F8F1EF5D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1EA4C8-A2E1-B264-42B4-66EF872ECD7E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1846A2-A043-6EB1-5E2F-96E4A09B2B6A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사업분야</a:t>
            </a:r>
            <a:r>
              <a:rPr lang="en-US" altLang="ko-KR" sz="1200" b="1" dirty="0"/>
              <a:t> – </a:t>
            </a:r>
            <a:r>
              <a:rPr lang="ko-KR" altLang="en-US" sz="1200" b="1" dirty="0"/>
              <a:t>공통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B66C6C-9A58-9C73-08EF-D8284E6CD261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6B46C4A-104F-2A84-19E5-358718101B99}"/>
              </a:ext>
            </a:extLst>
          </p:cNvPr>
          <p:cNvSpPr/>
          <p:nvPr/>
        </p:nvSpPr>
        <p:spPr>
          <a:xfrm>
            <a:off x="443388" y="1122528"/>
            <a:ext cx="11305223" cy="18873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적절한 이미지 사용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2FB496-FB9C-47A1-52C0-0094716CCE21}"/>
              </a:ext>
            </a:extLst>
          </p:cNvPr>
          <p:cNvSpPr/>
          <p:nvPr/>
        </p:nvSpPr>
        <p:spPr>
          <a:xfrm>
            <a:off x="443388" y="1122528"/>
            <a:ext cx="11305222" cy="1887372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사업분야</a:t>
            </a:r>
            <a:endParaRPr lang="en-US" altLang="ko-KR" sz="2000" dirty="0"/>
          </a:p>
          <a:p>
            <a:pPr algn="ctr"/>
            <a:endParaRPr lang="en-US" altLang="ko-KR" sz="800" dirty="0"/>
          </a:p>
          <a:p>
            <a:pPr algn="ctr"/>
            <a:r>
              <a:rPr lang="en-US" altLang="ko-KR" sz="1200" dirty="0"/>
              <a:t>BUSINESS</a:t>
            </a:r>
            <a:endParaRPr lang="ko-KR" altLang="en-US" sz="12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C4B2D18-E8C4-5837-825E-F5945BA43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341" y="163956"/>
            <a:ext cx="1401404" cy="65961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EDABB8F-586B-9142-8765-98E7FB58A48D}"/>
              </a:ext>
            </a:extLst>
          </p:cNvPr>
          <p:cNvSpPr txBox="1"/>
          <p:nvPr/>
        </p:nvSpPr>
        <p:spPr>
          <a:xfrm>
            <a:off x="10141772" y="132674"/>
            <a:ext cx="587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 Ref</a:t>
            </a:r>
            <a:endParaRPr lang="ko-KR" altLang="en-US" sz="1000" b="1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66551E-0D2E-AF04-82DE-997C3D10A711}"/>
              </a:ext>
            </a:extLst>
          </p:cNvPr>
          <p:cNvSpPr/>
          <p:nvPr/>
        </p:nvSpPr>
        <p:spPr>
          <a:xfrm>
            <a:off x="443388" y="3889159"/>
            <a:ext cx="11305222" cy="231161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소분류별 내용</a:t>
            </a:r>
            <a:endParaRPr lang="ko-KR" altLang="en-US" sz="12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31FAE3C-468C-2807-FB65-C19682A54287}"/>
              </a:ext>
            </a:extLst>
          </p:cNvPr>
          <p:cNvSpPr/>
          <p:nvPr/>
        </p:nvSpPr>
        <p:spPr>
          <a:xfrm>
            <a:off x="5393066" y="3139250"/>
            <a:ext cx="942976" cy="620559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안전진단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C5C8E1F-1A1B-D955-3371-BF58B4B7E567}"/>
              </a:ext>
            </a:extLst>
          </p:cNvPr>
          <p:cNvSpPr/>
          <p:nvPr/>
        </p:nvSpPr>
        <p:spPr>
          <a:xfrm>
            <a:off x="6437086" y="31392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법원감정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45D1CDD-EBE3-981C-C52D-F92D19EB6D63}"/>
              </a:ext>
            </a:extLst>
          </p:cNvPr>
          <p:cNvSpPr/>
          <p:nvPr/>
        </p:nvSpPr>
        <p:spPr>
          <a:xfrm>
            <a:off x="7481106" y="31392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원가계산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전문기관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80F969E-C827-7334-F5F8-8087711B80C1}"/>
              </a:ext>
            </a:extLst>
          </p:cNvPr>
          <p:cNvSpPr/>
          <p:nvPr/>
        </p:nvSpPr>
        <p:spPr>
          <a:xfrm>
            <a:off x="8525126" y="3139250"/>
            <a:ext cx="1182250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건축</a:t>
            </a:r>
            <a:r>
              <a:rPr lang="en-US" altLang="ko-KR" sz="1100" b="1" dirty="0">
                <a:solidFill>
                  <a:schemeClr val="tx1"/>
                </a:solidFill>
              </a:rPr>
              <a:t>·</a:t>
            </a:r>
            <a:r>
              <a:rPr lang="ko-KR" altLang="en-US" sz="1100" b="1" dirty="0">
                <a:solidFill>
                  <a:schemeClr val="tx1"/>
                </a:solidFill>
              </a:rPr>
              <a:t>토목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구조검토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해체계획서 작성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B71A24A-C989-5D3F-BB5F-1458FBE69976}"/>
              </a:ext>
            </a:extLst>
          </p:cNvPr>
          <p:cNvSpPr/>
          <p:nvPr/>
        </p:nvSpPr>
        <p:spPr>
          <a:xfrm>
            <a:off x="9892879" y="3558350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사업분야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안전진단전문기관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857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85FCD-9C9D-AE34-6BD6-8AF9FDCA7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223E8F-7EE9-BE1D-525A-FE7B91114835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85B58A-AD54-4FC3-64AA-14B91D674ED9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사업분야</a:t>
            </a:r>
            <a:r>
              <a:rPr lang="en-US" altLang="ko-KR" sz="1200" b="1" dirty="0"/>
              <a:t> – </a:t>
            </a:r>
            <a:r>
              <a:rPr lang="ko-KR" altLang="en-US" sz="1200" b="1" dirty="0"/>
              <a:t>안전진단전문기관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136DF2-5D80-DA0D-EC2D-3B4F52279FB9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C8F4A9F-394F-17F1-61D5-FA34170C170B}"/>
              </a:ext>
            </a:extLst>
          </p:cNvPr>
          <p:cNvSpPr/>
          <p:nvPr/>
        </p:nvSpPr>
        <p:spPr>
          <a:xfrm>
            <a:off x="5624512" y="1158050"/>
            <a:ext cx="942976" cy="620559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안전진단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2E8D260-8DEF-62B1-A894-D9907350198E}"/>
              </a:ext>
            </a:extLst>
          </p:cNvPr>
          <p:cNvSpPr/>
          <p:nvPr/>
        </p:nvSpPr>
        <p:spPr>
          <a:xfrm>
            <a:off x="666853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법원감정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8F61DAF-91C7-A3DF-DF2B-98279E69FB27}"/>
              </a:ext>
            </a:extLst>
          </p:cNvPr>
          <p:cNvSpPr/>
          <p:nvPr/>
        </p:nvSpPr>
        <p:spPr>
          <a:xfrm>
            <a:off x="771255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원가계산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B885FAE-5221-72C1-F2E1-1FD59313BD71}"/>
              </a:ext>
            </a:extLst>
          </p:cNvPr>
          <p:cNvSpPr/>
          <p:nvPr/>
        </p:nvSpPr>
        <p:spPr>
          <a:xfrm>
            <a:off x="8756572" y="1158050"/>
            <a:ext cx="1182250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건축</a:t>
            </a:r>
            <a:r>
              <a:rPr lang="en-US" altLang="ko-KR" sz="1100" b="1" dirty="0">
                <a:solidFill>
                  <a:schemeClr val="tx1"/>
                </a:solidFill>
              </a:rPr>
              <a:t>·</a:t>
            </a:r>
            <a:r>
              <a:rPr lang="ko-KR" altLang="en-US" sz="1100" b="1" dirty="0">
                <a:solidFill>
                  <a:schemeClr val="tx1"/>
                </a:solidFill>
              </a:rPr>
              <a:t>토목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구조검토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해체계획서 작성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BCC46AB-2DCC-F4B4-A7F7-20B514A8BA2C}"/>
              </a:ext>
            </a:extLst>
          </p:cNvPr>
          <p:cNvSpPr/>
          <p:nvPr/>
        </p:nvSpPr>
        <p:spPr>
          <a:xfrm>
            <a:off x="10124325" y="1577150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사업분야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안전진단전문기관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57FC0-5B08-72DC-FABA-0B82711BEDBD}"/>
              </a:ext>
            </a:extLst>
          </p:cNvPr>
          <p:cNvSpPr txBox="1"/>
          <p:nvPr/>
        </p:nvSpPr>
        <p:spPr>
          <a:xfrm>
            <a:off x="285135" y="1856004"/>
            <a:ext cx="837039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/>
              <a:t>건축물의 상태를 정확히 진단하고</a:t>
            </a:r>
            <a:r>
              <a:rPr lang="en-US" altLang="ko-KR" sz="700" b="1" dirty="0"/>
              <a:t>, </a:t>
            </a:r>
            <a:r>
              <a:rPr lang="ko-KR" altLang="en-US" sz="700" b="1" dirty="0"/>
              <a:t>구조적 안전성을 검토합니다</a:t>
            </a:r>
            <a:r>
              <a:rPr lang="en-US" altLang="ko-KR" sz="700" b="1" dirty="0"/>
              <a:t>.</a:t>
            </a:r>
          </a:p>
          <a:p>
            <a:r>
              <a:rPr lang="ko-KR" altLang="en-US" sz="700" b="1" dirty="0"/>
              <a:t>안전진단전문기관</a:t>
            </a:r>
            <a:r>
              <a:rPr lang="ko-KR" altLang="en-US" sz="700" dirty="0"/>
              <a:t>으로서 건축물의 균열</a:t>
            </a:r>
            <a:r>
              <a:rPr lang="en-US" altLang="ko-KR" sz="700" dirty="0"/>
              <a:t>, </a:t>
            </a:r>
            <a:r>
              <a:rPr lang="ko-KR" altLang="en-US" sz="700" dirty="0"/>
              <a:t>누수</a:t>
            </a:r>
            <a:r>
              <a:rPr lang="en-US" altLang="ko-KR" sz="700" dirty="0"/>
              <a:t>, </a:t>
            </a:r>
            <a:r>
              <a:rPr lang="ko-KR" altLang="en-US" sz="700" dirty="0"/>
              <a:t>변형</a:t>
            </a:r>
            <a:r>
              <a:rPr lang="en-US" altLang="ko-KR" sz="700" dirty="0"/>
              <a:t>, </a:t>
            </a:r>
            <a:r>
              <a:rPr lang="ko-KR" altLang="en-US" sz="700" dirty="0"/>
              <a:t>침하</a:t>
            </a:r>
            <a:r>
              <a:rPr lang="en-US" altLang="ko-KR" sz="700" dirty="0"/>
              <a:t>, </a:t>
            </a:r>
            <a:r>
              <a:rPr lang="ko-KR" altLang="en-US" sz="700" dirty="0"/>
              <a:t>철근노출</a:t>
            </a:r>
            <a:r>
              <a:rPr lang="en-US" altLang="ko-KR" sz="700" dirty="0"/>
              <a:t>, </a:t>
            </a:r>
            <a:r>
              <a:rPr lang="ko-KR" altLang="en-US" sz="700" dirty="0"/>
              <a:t>콘크리트 열화 등 주요 결함을 조사하고</a:t>
            </a:r>
            <a:r>
              <a:rPr lang="en-US" altLang="ko-KR" sz="700" dirty="0"/>
              <a:t>, </a:t>
            </a:r>
            <a:r>
              <a:rPr lang="ko-KR" altLang="en-US" sz="700" dirty="0"/>
              <a:t>구조적 안전성 및 유지관리 방향을 종합적으로 검토합니다</a:t>
            </a:r>
            <a:r>
              <a:rPr lang="en-US" altLang="ko-KR" sz="700" dirty="0"/>
              <a:t>.</a:t>
            </a:r>
            <a:br>
              <a:rPr lang="en-US" altLang="ko-KR" sz="700" dirty="0"/>
            </a:br>
            <a:r>
              <a:rPr lang="ko-KR" altLang="en-US" sz="700" dirty="0"/>
              <a:t>현장조사</a:t>
            </a:r>
            <a:r>
              <a:rPr lang="en-US" altLang="ko-KR" sz="700" dirty="0"/>
              <a:t>, </a:t>
            </a:r>
            <a:r>
              <a:rPr lang="ko-KR" altLang="en-US" sz="700" dirty="0"/>
              <a:t>자료검토</a:t>
            </a:r>
            <a:r>
              <a:rPr lang="en-US" altLang="ko-KR" sz="700" dirty="0"/>
              <a:t>, </a:t>
            </a:r>
            <a:r>
              <a:rPr lang="ko-KR" altLang="en-US" sz="700" dirty="0"/>
              <a:t>비파괴시험</a:t>
            </a:r>
            <a:r>
              <a:rPr lang="en-US" altLang="ko-KR" sz="700" dirty="0"/>
              <a:t>, </a:t>
            </a:r>
            <a:r>
              <a:rPr lang="ko-KR" altLang="en-US" sz="700" dirty="0"/>
              <a:t>구조검토를 바탕으로 건축물의 현재 상태를 객관적으로 평가하고</a:t>
            </a:r>
            <a:r>
              <a:rPr lang="en-US" altLang="ko-KR" sz="700" dirty="0"/>
              <a:t>, </a:t>
            </a:r>
            <a:r>
              <a:rPr lang="ko-KR" altLang="en-US" sz="700" dirty="0"/>
              <a:t>필요 시 보수</a:t>
            </a:r>
            <a:r>
              <a:rPr lang="en-US" altLang="ko-KR" sz="700" dirty="0"/>
              <a:t>·</a:t>
            </a:r>
            <a:r>
              <a:rPr lang="ko-KR" altLang="en-US" sz="700" dirty="0"/>
              <a:t>보강 방안을 제시합니다</a:t>
            </a:r>
            <a:r>
              <a:rPr lang="en-US" altLang="ko-KR" sz="700" dirty="0"/>
              <a:t>.</a:t>
            </a:r>
          </a:p>
          <a:p>
            <a:r>
              <a:rPr lang="ko-KR" altLang="en-US" sz="700" dirty="0"/>
              <a:t>시설물의 안전점검 및 정밀안전진단은 현장조사와 각종 시험을 통해 물리적</a:t>
            </a:r>
            <a:r>
              <a:rPr lang="en-US" altLang="ko-KR" sz="700" dirty="0"/>
              <a:t>·</a:t>
            </a:r>
            <a:r>
              <a:rPr lang="ko-KR" altLang="en-US" sz="700" dirty="0"/>
              <a:t>기능적 결함과 위험요인을 발견하고</a:t>
            </a:r>
            <a:r>
              <a:rPr lang="en-US" altLang="ko-KR" sz="700" dirty="0"/>
              <a:t>, </a:t>
            </a:r>
            <a:r>
              <a:rPr lang="ko-KR" altLang="en-US" sz="700" dirty="0"/>
              <a:t>이에 대한 보수</a:t>
            </a:r>
            <a:r>
              <a:rPr lang="en-US" altLang="ko-KR" sz="700" dirty="0"/>
              <a:t>·</a:t>
            </a:r>
            <a:r>
              <a:rPr lang="ko-KR" altLang="en-US" sz="700" dirty="0"/>
              <a:t>보강 등 조치방안을 제시하여 시설물의 안전을 확보합니다</a:t>
            </a:r>
            <a:r>
              <a:rPr lang="en-US" altLang="ko-KR" sz="700" dirty="0"/>
              <a:t>. </a:t>
            </a:r>
          </a:p>
          <a:p>
            <a:br>
              <a:rPr lang="en-US" altLang="ko-KR" sz="700" dirty="0"/>
            </a:br>
            <a:endParaRPr lang="en-US" altLang="ko-KR" sz="700" dirty="0"/>
          </a:p>
          <a:p>
            <a:r>
              <a:rPr lang="ko-KR" altLang="en-US" sz="700" b="1" dirty="0"/>
              <a:t>주요 업무</a:t>
            </a:r>
          </a:p>
          <a:p>
            <a:r>
              <a:rPr lang="ko-KR" altLang="en-US" sz="700" b="1" dirty="0"/>
              <a:t>정기안전점검</a:t>
            </a:r>
          </a:p>
          <a:p>
            <a:r>
              <a:rPr lang="ko-KR" altLang="en-US" sz="700" dirty="0"/>
              <a:t>건축물의 외관 상태</a:t>
            </a:r>
            <a:r>
              <a:rPr lang="en-US" altLang="ko-KR" sz="700" dirty="0"/>
              <a:t>, </a:t>
            </a:r>
            <a:r>
              <a:rPr lang="ko-KR" altLang="en-US" sz="700" dirty="0"/>
              <a:t>주요 구조부의 균열</a:t>
            </a:r>
            <a:r>
              <a:rPr lang="en-US" altLang="ko-KR" sz="700" dirty="0"/>
              <a:t>·</a:t>
            </a:r>
            <a:r>
              <a:rPr lang="ko-KR" altLang="en-US" sz="700" dirty="0"/>
              <a:t>변형</a:t>
            </a:r>
            <a:r>
              <a:rPr lang="en-US" altLang="ko-KR" sz="700" dirty="0"/>
              <a:t>·</a:t>
            </a:r>
            <a:r>
              <a:rPr lang="ko-KR" altLang="en-US" sz="700" dirty="0"/>
              <a:t>손상 여부</a:t>
            </a:r>
            <a:r>
              <a:rPr lang="en-US" altLang="ko-KR" sz="700" dirty="0"/>
              <a:t>, </a:t>
            </a:r>
            <a:r>
              <a:rPr lang="ko-KR" altLang="en-US" sz="700" dirty="0"/>
              <a:t>사용상 위험요인을 점검하여 시설물의 안전상태를 확인합니다</a:t>
            </a:r>
            <a:r>
              <a:rPr lang="en-US" altLang="ko-KR" sz="700" dirty="0"/>
              <a:t>.</a:t>
            </a:r>
          </a:p>
          <a:p>
            <a:r>
              <a:rPr lang="ko-KR" altLang="en-US" sz="700" b="1" dirty="0"/>
              <a:t>정밀안전점검</a:t>
            </a:r>
          </a:p>
          <a:p>
            <a:r>
              <a:rPr lang="ko-KR" altLang="en-US" sz="700" dirty="0"/>
              <a:t>정기점검 결과 또는 관리상 필요에 따라 건축물의 결함 원인과 상태를 보다 세부적으로 조사하고</a:t>
            </a:r>
            <a:r>
              <a:rPr lang="en-US" altLang="ko-KR" sz="700" dirty="0"/>
              <a:t>, </a:t>
            </a:r>
            <a:r>
              <a:rPr lang="ko-KR" altLang="en-US" sz="700" dirty="0"/>
              <a:t>구조적 안전성 및 보수 필요성을 검토합니다</a:t>
            </a:r>
            <a:r>
              <a:rPr lang="en-US" altLang="ko-KR" sz="700" dirty="0"/>
              <a:t>.</a:t>
            </a:r>
          </a:p>
          <a:p>
            <a:r>
              <a:rPr lang="ko-KR" altLang="en-US" sz="700" b="1" dirty="0"/>
              <a:t>정밀안전진단</a:t>
            </a:r>
          </a:p>
          <a:p>
            <a:r>
              <a:rPr lang="ko-KR" altLang="en-US" sz="700" dirty="0"/>
              <a:t>건축물에 중대한 결함</a:t>
            </a:r>
            <a:r>
              <a:rPr lang="en-US" altLang="ko-KR" sz="700" dirty="0"/>
              <a:t>, </a:t>
            </a:r>
            <a:r>
              <a:rPr lang="ko-KR" altLang="en-US" sz="700" dirty="0"/>
              <a:t>노후화</a:t>
            </a:r>
            <a:r>
              <a:rPr lang="en-US" altLang="ko-KR" sz="700" dirty="0"/>
              <a:t>, </a:t>
            </a:r>
            <a:r>
              <a:rPr lang="ko-KR" altLang="en-US" sz="700" dirty="0"/>
              <a:t>용도변경</a:t>
            </a:r>
            <a:r>
              <a:rPr lang="en-US" altLang="ko-KR" sz="700" dirty="0"/>
              <a:t>, </a:t>
            </a:r>
            <a:r>
              <a:rPr lang="ko-KR" altLang="en-US" sz="700" dirty="0"/>
              <a:t>증축</a:t>
            </a:r>
            <a:r>
              <a:rPr lang="en-US" altLang="ko-KR" sz="700" dirty="0"/>
              <a:t>·</a:t>
            </a:r>
            <a:r>
              <a:rPr lang="ko-KR" altLang="en-US" sz="700" dirty="0"/>
              <a:t>대수선</a:t>
            </a:r>
            <a:r>
              <a:rPr lang="en-US" altLang="ko-KR" sz="700" dirty="0"/>
              <a:t>, </a:t>
            </a:r>
            <a:r>
              <a:rPr lang="ko-KR" altLang="en-US" sz="700" dirty="0"/>
              <a:t>사고 또는 화재 등이 발생한 경우 구조적 안전성을 정밀하게 분석하고</a:t>
            </a:r>
            <a:r>
              <a:rPr lang="en-US" altLang="ko-KR" sz="700" dirty="0"/>
              <a:t>, </a:t>
            </a:r>
            <a:r>
              <a:rPr lang="ko-KR" altLang="en-US" sz="700" dirty="0"/>
              <a:t>보수</a:t>
            </a:r>
            <a:r>
              <a:rPr lang="en-US" altLang="ko-KR" sz="700" dirty="0"/>
              <a:t>·</a:t>
            </a:r>
            <a:r>
              <a:rPr lang="ko-KR" altLang="en-US" sz="700" dirty="0"/>
              <a:t>보강 및 유지관리 방안을 제시합니다</a:t>
            </a:r>
            <a:r>
              <a:rPr lang="en-US" altLang="ko-KR" sz="700" dirty="0"/>
              <a:t>.</a:t>
            </a:r>
            <a:br>
              <a:rPr lang="en-US" altLang="ko-KR" sz="700" dirty="0"/>
            </a:br>
            <a:r>
              <a:rPr lang="ko-KR" altLang="en-US" sz="700" dirty="0"/>
              <a:t>레퍼런스상 건축물 안전진단 업무도 정기점검</a:t>
            </a:r>
            <a:r>
              <a:rPr lang="en-US" altLang="ko-KR" sz="700" dirty="0"/>
              <a:t>·</a:t>
            </a:r>
            <a:r>
              <a:rPr lang="ko-KR" altLang="en-US" sz="700" dirty="0"/>
              <a:t>정밀점검</a:t>
            </a:r>
            <a:r>
              <a:rPr lang="en-US" altLang="ko-KR" sz="700" dirty="0"/>
              <a:t>·</a:t>
            </a:r>
            <a:r>
              <a:rPr lang="ko-KR" altLang="en-US" sz="700" dirty="0"/>
              <a:t>정밀안전진단</a:t>
            </a:r>
            <a:r>
              <a:rPr lang="en-US" altLang="ko-KR" sz="700" dirty="0"/>
              <a:t>, </a:t>
            </a:r>
            <a:r>
              <a:rPr lang="ko-KR" altLang="en-US" sz="700" dirty="0"/>
              <a:t>증축</a:t>
            </a:r>
            <a:r>
              <a:rPr lang="en-US" altLang="ko-KR" sz="700" dirty="0"/>
              <a:t>·</a:t>
            </a:r>
            <a:r>
              <a:rPr lang="ko-KR" altLang="en-US" sz="700" dirty="0"/>
              <a:t>개축</a:t>
            </a:r>
            <a:r>
              <a:rPr lang="en-US" altLang="ko-KR" sz="700" dirty="0"/>
              <a:t>·</a:t>
            </a:r>
            <a:r>
              <a:rPr lang="ko-KR" altLang="en-US" sz="700" dirty="0"/>
              <a:t>용도 및 구조변경</a:t>
            </a:r>
            <a:r>
              <a:rPr lang="en-US" altLang="ko-KR" sz="700" dirty="0"/>
              <a:t>, </a:t>
            </a:r>
            <a:r>
              <a:rPr lang="ko-KR" altLang="en-US" sz="700" dirty="0"/>
              <a:t>사고진단</a:t>
            </a:r>
            <a:r>
              <a:rPr lang="en-US" altLang="ko-KR" sz="700" dirty="0"/>
              <a:t>, </a:t>
            </a:r>
            <a:r>
              <a:rPr lang="ko-KR" altLang="en-US" sz="700" dirty="0"/>
              <a:t>공사재개에 따른 구조안전진단을 중심으로 소개되고 있습니다</a:t>
            </a:r>
            <a:r>
              <a:rPr lang="en-US" altLang="ko-KR" sz="700" dirty="0"/>
              <a:t>. </a:t>
            </a:r>
          </a:p>
          <a:p>
            <a:r>
              <a:rPr lang="ko-KR" altLang="en-US" sz="700" b="1" dirty="0"/>
              <a:t>건설공사 안전점검</a:t>
            </a:r>
          </a:p>
          <a:p>
            <a:r>
              <a:rPr lang="ko-KR" altLang="en-US" sz="700" dirty="0"/>
              <a:t>건설공사 중 안전관리계획에 따른 정기안전점검</a:t>
            </a:r>
            <a:r>
              <a:rPr lang="en-US" altLang="ko-KR" sz="700" dirty="0"/>
              <a:t>, </a:t>
            </a:r>
            <a:r>
              <a:rPr lang="ko-KR" altLang="en-US" sz="700" dirty="0"/>
              <a:t>초기점검</a:t>
            </a:r>
            <a:r>
              <a:rPr lang="en-US" altLang="ko-KR" sz="700" dirty="0"/>
              <a:t>, </a:t>
            </a:r>
            <a:r>
              <a:rPr lang="ko-KR" altLang="en-US" sz="700" dirty="0"/>
              <a:t>필요 시 정밀안전점검을 수행하여 공사 목적물과 인접 건축물의 안전성을 확인합니다</a:t>
            </a:r>
            <a:r>
              <a:rPr lang="en-US" altLang="ko-KR" sz="700" dirty="0"/>
              <a:t>. </a:t>
            </a:r>
            <a:r>
              <a:rPr lang="ko-KR" altLang="en-US" sz="700" dirty="0"/>
              <a:t>「건설기술 진흥법 </a:t>
            </a:r>
            <a:r>
              <a:rPr lang="ko-KR" altLang="en-US" sz="700" dirty="0" err="1"/>
              <a:t>시행령」은</a:t>
            </a:r>
            <a:r>
              <a:rPr lang="ko-KR" altLang="en-US" sz="700" dirty="0"/>
              <a:t> 건설사업자 등이 공사기간 동안 정기안전점검 및 필요 시 정밀안전점검을 실시하도록 하고</a:t>
            </a:r>
            <a:r>
              <a:rPr lang="en-US" altLang="ko-KR" sz="700" dirty="0"/>
              <a:t>, </a:t>
            </a:r>
            <a:r>
              <a:rPr lang="ko-KR" altLang="en-US" sz="700" dirty="0"/>
              <a:t>이를 수행할 수 있는 기관에 「</a:t>
            </a:r>
            <a:r>
              <a:rPr lang="ko-KR" altLang="en-US" sz="700" dirty="0" err="1"/>
              <a:t>시설물안전법」상</a:t>
            </a:r>
            <a:r>
              <a:rPr lang="ko-KR" altLang="en-US" sz="700" dirty="0"/>
              <a:t> 안전진단전문기관을 포함하고 있습니다</a:t>
            </a:r>
            <a:r>
              <a:rPr lang="en-US" altLang="ko-KR" sz="700" dirty="0"/>
              <a:t>. </a:t>
            </a:r>
          </a:p>
          <a:p>
            <a:br>
              <a:rPr lang="en-US" altLang="ko-KR" sz="700" dirty="0"/>
            </a:br>
            <a:endParaRPr lang="en-US" altLang="ko-KR" sz="700" dirty="0"/>
          </a:p>
          <a:p>
            <a:r>
              <a:rPr lang="ko-KR" altLang="en-US" sz="700" b="1" dirty="0"/>
              <a:t>진단 대상</a:t>
            </a:r>
          </a:p>
          <a:p>
            <a:r>
              <a:rPr lang="ko-KR" altLang="en-US" sz="700" dirty="0"/>
              <a:t>공동주택</a:t>
            </a:r>
            <a:r>
              <a:rPr lang="en-US" altLang="ko-KR" sz="700" dirty="0"/>
              <a:t>, </a:t>
            </a:r>
            <a:r>
              <a:rPr lang="ko-KR" altLang="en-US" sz="700" dirty="0"/>
              <a:t>업무시설</a:t>
            </a:r>
            <a:r>
              <a:rPr lang="en-US" altLang="ko-KR" sz="700" dirty="0"/>
              <a:t>, </a:t>
            </a:r>
            <a:r>
              <a:rPr lang="ko-KR" altLang="en-US" sz="700" dirty="0"/>
              <a:t>판매시설</a:t>
            </a:r>
            <a:r>
              <a:rPr lang="en-US" altLang="ko-KR" sz="700" dirty="0"/>
              <a:t>, </a:t>
            </a:r>
            <a:r>
              <a:rPr lang="ko-KR" altLang="en-US" sz="700" dirty="0"/>
              <a:t>숙박시설</a:t>
            </a:r>
            <a:r>
              <a:rPr lang="en-US" altLang="ko-KR" sz="700" dirty="0"/>
              <a:t>, </a:t>
            </a:r>
            <a:r>
              <a:rPr lang="ko-KR" altLang="en-US" sz="700" dirty="0"/>
              <a:t>교육연구시설 등 건축물 </a:t>
            </a:r>
          </a:p>
          <a:p>
            <a:r>
              <a:rPr lang="ko-KR" altLang="en-US" sz="700" dirty="0"/>
              <a:t>제</a:t>
            </a:r>
            <a:r>
              <a:rPr lang="en-US" altLang="ko-KR" sz="700" dirty="0"/>
              <a:t>1</a:t>
            </a:r>
            <a:r>
              <a:rPr lang="ko-KR" altLang="en-US" sz="700" dirty="0"/>
              <a:t>종</a:t>
            </a:r>
            <a:r>
              <a:rPr lang="en-US" altLang="ko-KR" sz="700" dirty="0"/>
              <a:t>·</a:t>
            </a:r>
            <a:r>
              <a:rPr lang="ko-KR" altLang="en-US" sz="700" dirty="0"/>
              <a:t>제</a:t>
            </a:r>
            <a:r>
              <a:rPr lang="en-US" altLang="ko-KR" sz="700" dirty="0"/>
              <a:t>2</a:t>
            </a:r>
            <a:r>
              <a:rPr lang="ko-KR" altLang="en-US" sz="700" dirty="0"/>
              <a:t>종 건축시설물 </a:t>
            </a:r>
          </a:p>
          <a:p>
            <a:r>
              <a:rPr lang="ko-KR" altLang="en-US" sz="700" dirty="0"/>
              <a:t>제</a:t>
            </a:r>
            <a:r>
              <a:rPr lang="en-US" altLang="ko-KR" sz="700" dirty="0"/>
              <a:t>3</a:t>
            </a:r>
            <a:r>
              <a:rPr lang="ko-KR" altLang="en-US" sz="700" dirty="0"/>
              <a:t>종 건축시설물 중 안전관리가 필요한 건축물 </a:t>
            </a:r>
          </a:p>
          <a:p>
            <a:r>
              <a:rPr lang="ko-KR" altLang="en-US" sz="700" dirty="0"/>
              <a:t>리모델링</a:t>
            </a:r>
            <a:r>
              <a:rPr lang="en-US" altLang="ko-KR" sz="700" dirty="0"/>
              <a:t>, </a:t>
            </a:r>
            <a:r>
              <a:rPr lang="ko-KR" altLang="en-US" sz="700" dirty="0"/>
              <a:t>증축</a:t>
            </a:r>
            <a:r>
              <a:rPr lang="en-US" altLang="ko-KR" sz="700" dirty="0"/>
              <a:t>, </a:t>
            </a:r>
            <a:r>
              <a:rPr lang="ko-KR" altLang="en-US" sz="700" dirty="0"/>
              <a:t>대수선</a:t>
            </a:r>
            <a:r>
              <a:rPr lang="en-US" altLang="ko-KR" sz="700" dirty="0"/>
              <a:t>, </a:t>
            </a:r>
            <a:r>
              <a:rPr lang="ko-KR" altLang="en-US" sz="700" dirty="0"/>
              <a:t>용도변경 전 구조안전성 검토가 필요한 건축물 </a:t>
            </a:r>
          </a:p>
          <a:p>
            <a:r>
              <a:rPr lang="ko-KR" altLang="en-US" sz="700" dirty="0"/>
              <a:t>균열</a:t>
            </a:r>
            <a:r>
              <a:rPr lang="en-US" altLang="ko-KR" sz="700" dirty="0"/>
              <a:t>, </a:t>
            </a:r>
            <a:r>
              <a:rPr lang="ko-KR" altLang="en-US" sz="700" dirty="0"/>
              <a:t>누수</a:t>
            </a:r>
            <a:r>
              <a:rPr lang="en-US" altLang="ko-KR" sz="700" dirty="0"/>
              <a:t>, </a:t>
            </a:r>
            <a:r>
              <a:rPr lang="ko-KR" altLang="en-US" sz="700" dirty="0"/>
              <a:t>처짐</a:t>
            </a:r>
            <a:r>
              <a:rPr lang="en-US" altLang="ko-KR" sz="700" dirty="0"/>
              <a:t>, </a:t>
            </a:r>
            <a:r>
              <a:rPr lang="ko-KR" altLang="en-US" sz="700" dirty="0"/>
              <a:t>기울기</a:t>
            </a:r>
            <a:r>
              <a:rPr lang="en-US" altLang="ko-KR" sz="700" dirty="0"/>
              <a:t>, </a:t>
            </a:r>
            <a:r>
              <a:rPr lang="ko-KR" altLang="en-US" sz="700" dirty="0"/>
              <a:t>침하</a:t>
            </a:r>
            <a:r>
              <a:rPr lang="en-US" altLang="ko-KR" sz="700" dirty="0"/>
              <a:t>, </a:t>
            </a:r>
            <a:r>
              <a:rPr lang="ko-KR" altLang="en-US" sz="700" dirty="0"/>
              <a:t>철근노출</a:t>
            </a:r>
            <a:r>
              <a:rPr lang="en-US" altLang="ko-KR" sz="700" dirty="0"/>
              <a:t>, </a:t>
            </a:r>
            <a:r>
              <a:rPr lang="ko-KR" altLang="en-US" sz="700" dirty="0"/>
              <a:t>박리</a:t>
            </a:r>
            <a:r>
              <a:rPr lang="en-US" altLang="ko-KR" sz="700" dirty="0"/>
              <a:t>·</a:t>
            </a:r>
            <a:r>
              <a:rPr lang="ko-KR" altLang="en-US" sz="700" dirty="0" err="1"/>
              <a:t>박락</a:t>
            </a:r>
            <a:r>
              <a:rPr lang="ko-KR" altLang="en-US" sz="700" dirty="0"/>
              <a:t> 등 결함이 발생한 건축물 </a:t>
            </a:r>
          </a:p>
          <a:p>
            <a:r>
              <a:rPr lang="ko-KR" altLang="en-US" sz="700" dirty="0"/>
              <a:t>화재</a:t>
            </a:r>
            <a:r>
              <a:rPr lang="en-US" altLang="ko-KR" sz="700" dirty="0"/>
              <a:t>, </a:t>
            </a:r>
            <a:r>
              <a:rPr lang="ko-KR" altLang="en-US" sz="700" dirty="0"/>
              <a:t>충격</a:t>
            </a:r>
            <a:r>
              <a:rPr lang="en-US" altLang="ko-KR" sz="700" dirty="0"/>
              <a:t>, </a:t>
            </a:r>
            <a:r>
              <a:rPr lang="ko-KR" altLang="en-US" sz="700" dirty="0"/>
              <a:t>장기 방치</a:t>
            </a:r>
            <a:r>
              <a:rPr lang="en-US" altLang="ko-KR" sz="700" dirty="0"/>
              <a:t>, </a:t>
            </a:r>
            <a:r>
              <a:rPr lang="ko-KR" altLang="en-US" sz="700" dirty="0"/>
              <a:t>공사 중단 후 재개 등으로 안전성 확인이 필요한 건축물 </a:t>
            </a:r>
          </a:p>
          <a:p>
            <a:r>
              <a:rPr lang="ko-KR" altLang="en-US" sz="700" dirty="0"/>
              <a:t>건축시설물의 예로는 제</a:t>
            </a:r>
            <a:r>
              <a:rPr lang="en-US" altLang="ko-KR" sz="700" dirty="0"/>
              <a:t>1</a:t>
            </a:r>
            <a:r>
              <a:rPr lang="ko-KR" altLang="en-US" sz="700" dirty="0"/>
              <a:t>종의 경우 </a:t>
            </a:r>
            <a:r>
              <a:rPr lang="en-US" altLang="ko-KR" sz="700" dirty="0"/>
              <a:t>21</a:t>
            </a:r>
            <a:r>
              <a:rPr lang="ko-KR" altLang="en-US" sz="700" dirty="0"/>
              <a:t>층 이상 또는 연면적 </a:t>
            </a:r>
            <a:r>
              <a:rPr lang="en-US" altLang="ko-KR" sz="700" dirty="0"/>
              <a:t>5</a:t>
            </a:r>
            <a:r>
              <a:rPr lang="ko-KR" altLang="en-US" sz="700" dirty="0"/>
              <a:t>만㎡ 이상 건축물</a:t>
            </a:r>
            <a:r>
              <a:rPr lang="en-US" altLang="ko-KR" sz="700" dirty="0"/>
              <a:t>, </a:t>
            </a:r>
            <a:r>
              <a:rPr lang="ko-KR" altLang="en-US" sz="700" dirty="0"/>
              <a:t>제</a:t>
            </a:r>
            <a:r>
              <a:rPr lang="en-US" altLang="ko-KR" sz="700" dirty="0"/>
              <a:t>2</a:t>
            </a:r>
            <a:r>
              <a:rPr lang="ko-KR" altLang="en-US" sz="700" dirty="0"/>
              <a:t>종의 경우 </a:t>
            </a:r>
            <a:r>
              <a:rPr lang="en-US" altLang="ko-KR" sz="700" dirty="0"/>
              <a:t>16</a:t>
            </a:r>
            <a:r>
              <a:rPr lang="ko-KR" altLang="en-US" sz="700" dirty="0"/>
              <a:t>층 이상 공동주택이나 연면적 </a:t>
            </a:r>
            <a:r>
              <a:rPr lang="en-US" altLang="ko-KR" sz="700" dirty="0"/>
              <a:t>3</a:t>
            </a:r>
            <a:r>
              <a:rPr lang="ko-KR" altLang="en-US" sz="700" dirty="0"/>
              <a:t>만㎡ 이상 건축물 등이 포함됩니다</a:t>
            </a:r>
            <a:r>
              <a:rPr lang="en-US" altLang="ko-KR" sz="700" dirty="0"/>
              <a:t>. </a:t>
            </a:r>
          </a:p>
          <a:p>
            <a:br>
              <a:rPr lang="en-US" altLang="ko-KR" sz="700" dirty="0"/>
            </a:br>
            <a:endParaRPr lang="en-US" altLang="ko-KR" sz="700" dirty="0"/>
          </a:p>
          <a:p>
            <a:r>
              <a:rPr lang="ko-KR" altLang="en-US" sz="700" b="1" dirty="0"/>
              <a:t>수행 절차</a:t>
            </a:r>
          </a:p>
          <a:p>
            <a:r>
              <a:rPr lang="en-US" altLang="ko-KR" sz="700" b="1" dirty="0"/>
              <a:t>01. </a:t>
            </a:r>
            <a:r>
              <a:rPr lang="ko-KR" altLang="en-US" sz="700" b="1" dirty="0"/>
              <a:t>상담 및 자료검토</a:t>
            </a:r>
          </a:p>
          <a:p>
            <a:r>
              <a:rPr lang="ko-KR" altLang="en-US" sz="700" dirty="0"/>
              <a:t>건축물대장</a:t>
            </a:r>
            <a:r>
              <a:rPr lang="en-US" altLang="ko-KR" sz="700" dirty="0"/>
              <a:t>, </a:t>
            </a:r>
            <a:r>
              <a:rPr lang="ko-KR" altLang="en-US" sz="700" dirty="0"/>
              <a:t>설계도서</a:t>
            </a:r>
            <a:r>
              <a:rPr lang="en-US" altLang="ko-KR" sz="700" dirty="0"/>
              <a:t>, </a:t>
            </a:r>
            <a:r>
              <a:rPr lang="ko-KR" altLang="en-US" sz="700" dirty="0"/>
              <a:t>구조계산서</a:t>
            </a:r>
            <a:r>
              <a:rPr lang="en-US" altLang="ko-KR" sz="700" dirty="0"/>
              <a:t>, </a:t>
            </a:r>
            <a:r>
              <a:rPr lang="ko-KR" altLang="en-US" sz="700" dirty="0"/>
              <a:t>기존 점검</a:t>
            </a:r>
            <a:r>
              <a:rPr lang="en-US" altLang="ko-KR" sz="700" dirty="0"/>
              <a:t>·</a:t>
            </a:r>
            <a:r>
              <a:rPr lang="ko-KR" altLang="en-US" sz="700" dirty="0"/>
              <a:t>진단보고서</a:t>
            </a:r>
            <a:r>
              <a:rPr lang="en-US" altLang="ko-KR" sz="700" dirty="0"/>
              <a:t>, </a:t>
            </a:r>
            <a:r>
              <a:rPr lang="ko-KR" altLang="en-US" sz="700" dirty="0"/>
              <a:t>보수</a:t>
            </a:r>
            <a:r>
              <a:rPr lang="en-US" altLang="ko-KR" sz="700" dirty="0"/>
              <a:t>·</a:t>
            </a:r>
            <a:r>
              <a:rPr lang="ko-KR" altLang="en-US" sz="700" dirty="0"/>
              <a:t>보강 이력 등을 확인합니다</a:t>
            </a:r>
            <a:r>
              <a:rPr lang="en-US" altLang="ko-KR" sz="700" dirty="0"/>
              <a:t>.</a:t>
            </a:r>
          </a:p>
          <a:p>
            <a:r>
              <a:rPr lang="en-US" altLang="ko-KR" sz="700" b="1" dirty="0"/>
              <a:t>02. </a:t>
            </a:r>
            <a:r>
              <a:rPr lang="ko-KR" altLang="en-US" sz="700" b="1" dirty="0"/>
              <a:t>현장조사</a:t>
            </a:r>
          </a:p>
          <a:p>
            <a:r>
              <a:rPr lang="ko-KR" altLang="en-US" sz="700" dirty="0"/>
              <a:t>균열</a:t>
            </a:r>
            <a:r>
              <a:rPr lang="en-US" altLang="ko-KR" sz="700" dirty="0"/>
              <a:t>, </a:t>
            </a:r>
            <a:r>
              <a:rPr lang="ko-KR" altLang="en-US" sz="700" dirty="0"/>
              <a:t>누수</a:t>
            </a:r>
            <a:r>
              <a:rPr lang="en-US" altLang="ko-KR" sz="700" dirty="0"/>
              <a:t>, </a:t>
            </a:r>
            <a:r>
              <a:rPr lang="ko-KR" altLang="en-US" sz="700" dirty="0"/>
              <a:t>박리</a:t>
            </a:r>
            <a:r>
              <a:rPr lang="en-US" altLang="ko-KR" sz="700" dirty="0"/>
              <a:t>, </a:t>
            </a:r>
            <a:r>
              <a:rPr lang="ko-KR" altLang="en-US" sz="700" dirty="0" err="1"/>
              <a:t>박락</a:t>
            </a:r>
            <a:r>
              <a:rPr lang="en-US" altLang="ko-KR" sz="700" dirty="0"/>
              <a:t>, </a:t>
            </a:r>
            <a:r>
              <a:rPr lang="ko-KR" altLang="en-US" sz="700" dirty="0"/>
              <a:t>철근노출</a:t>
            </a:r>
            <a:r>
              <a:rPr lang="en-US" altLang="ko-KR" sz="700" dirty="0"/>
              <a:t>, </a:t>
            </a:r>
            <a:r>
              <a:rPr lang="ko-KR" altLang="en-US" sz="700" dirty="0"/>
              <a:t>변위</a:t>
            </a:r>
            <a:r>
              <a:rPr lang="en-US" altLang="ko-KR" sz="700" dirty="0"/>
              <a:t>, </a:t>
            </a:r>
            <a:r>
              <a:rPr lang="ko-KR" altLang="en-US" sz="700" dirty="0"/>
              <a:t>처짐</a:t>
            </a:r>
            <a:r>
              <a:rPr lang="en-US" altLang="ko-KR" sz="700" dirty="0"/>
              <a:t>, </a:t>
            </a:r>
            <a:r>
              <a:rPr lang="ko-KR" altLang="en-US" sz="700" dirty="0"/>
              <a:t>기울기 등 주요 결함을 조사하고 외관조사망도를 작성합니다</a:t>
            </a:r>
            <a:r>
              <a:rPr lang="en-US" altLang="ko-KR" sz="700" dirty="0"/>
              <a:t>.</a:t>
            </a:r>
          </a:p>
          <a:p>
            <a:r>
              <a:rPr lang="en-US" altLang="ko-KR" sz="700" b="1" dirty="0"/>
              <a:t>03. </a:t>
            </a:r>
            <a:r>
              <a:rPr lang="ko-KR" altLang="en-US" sz="700" b="1" dirty="0"/>
              <a:t>시험 및 측정</a:t>
            </a:r>
          </a:p>
          <a:p>
            <a:r>
              <a:rPr lang="ko-KR" altLang="en-US" sz="700" dirty="0"/>
              <a:t>콘크리트 강도</a:t>
            </a:r>
            <a:r>
              <a:rPr lang="en-US" altLang="ko-KR" sz="700" dirty="0"/>
              <a:t>, </a:t>
            </a:r>
            <a:r>
              <a:rPr lang="ko-KR" altLang="en-US" sz="700" dirty="0" err="1"/>
              <a:t>철근배근</a:t>
            </a:r>
            <a:r>
              <a:rPr lang="ko-KR" altLang="en-US" sz="700" dirty="0"/>
              <a:t> 및 피복두께</a:t>
            </a:r>
            <a:r>
              <a:rPr lang="en-US" altLang="ko-KR" sz="700" dirty="0"/>
              <a:t>, </a:t>
            </a:r>
            <a:r>
              <a:rPr lang="ko-KR" altLang="en-US" sz="700" dirty="0"/>
              <a:t>탄산화</a:t>
            </a:r>
            <a:r>
              <a:rPr lang="en-US" altLang="ko-KR" sz="700" dirty="0"/>
              <a:t>, </a:t>
            </a:r>
            <a:r>
              <a:rPr lang="ko-KR" altLang="en-US" sz="700" dirty="0" err="1"/>
              <a:t>부재치수</a:t>
            </a:r>
            <a:r>
              <a:rPr lang="en-US" altLang="ko-KR" sz="700" dirty="0"/>
              <a:t>, </a:t>
            </a:r>
            <a:r>
              <a:rPr lang="ko-KR" altLang="en-US" sz="700" dirty="0"/>
              <a:t>변위</a:t>
            </a:r>
            <a:r>
              <a:rPr lang="en-US" altLang="ko-KR" sz="700" dirty="0"/>
              <a:t>·</a:t>
            </a:r>
            <a:r>
              <a:rPr lang="ko-KR" altLang="en-US" sz="700" dirty="0"/>
              <a:t>변형 등을 필요한 범위에서 조사합니다</a:t>
            </a:r>
            <a:r>
              <a:rPr lang="en-US" altLang="ko-KR" sz="700" dirty="0"/>
              <a:t>. </a:t>
            </a:r>
            <a:r>
              <a:rPr lang="ko-KR" altLang="en-US" sz="700" dirty="0"/>
              <a:t>진엔지니어링 레퍼런스도 안전진단의 대표 절차로 자료수집</a:t>
            </a:r>
            <a:r>
              <a:rPr lang="en-US" altLang="ko-KR" sz="700" dirty="0"/>
              <a:t>, </a:t>
            </a:r>
            <a:r>
              <a:rPr lang="ko-KR" altLang="en-US" sz="700" dirty="0"/>
              <a:t>현황조사</a:t>
            </a:r>
            <a:r>
              <a:rPr lang="en-US" altLang="ko-KR" sz="700" dirty="0"/>
              <a:t>, </a:t>
            </a:r>
            <a:r>
              <a:rPr lang="ko-KR" altLang="en-US" sz="700" dirty="0"/>
              <a:t>외관조사</a:t>
            </a:r>
            <a:r>
              <a:rPr lang="en-US" altLang="ko-KR" sz="700" dirty="0"/>
              <a:t>, </a:t>
            </a:r>
            <a:r>
              <a:rPr lang="ko-KR" altLang="en-US" sz="700" dirty="0"/>
              <a:t>재료시험 및 측정</a:t>
            </a:r>
            <a:r>
              <a:rPr lang="en-US" altLang="ko-KR" sz="700" dirty="0"/>
              <a:t>, </a:t>
            </a:r>
            <a:r>
              <a:rPr lang="ko-KR" altLang="en-US" sz="700" dirty="0"/>
              <a:t>필요 시 구조해석을 제시하고 있습니다</a:t>
            </a:r>
            <a:r>
              <a:rPr lang="en-US" altLang="ko-KR" sz="700" dirty="0"/>
              <a:t>. </a:t>
            </a:r>
          </a:p>
          <a:p>
            <a:r>
              <a:rPr lang="en-US" altLang="ko-KR" sz="700" b="1" dirty="0"/>
              <a:t>04. </a:t>
            </a:r>
            <a:r>
              <a:rPr lang="ko-KR" altLang="en-US" sz="700" b="1" dirty="0"/>
              <a:t>구조안전성 검토</a:t>
            </a:r>
          </a:p>
          <a:p>
            <a:r>
              <a:rPr lang="ko-KR" altLang="en-US" sz="700" dirty="0"/>
              <a:t>조사 결과와 도면</a:t>
            </a:r>
            <a:r>
              <a:rPr lang="en-US" altLang="ko-KR" sz="700" dirty="0"/>
              <a:t>, </a:t>
            </a:r>
            <a:r>
              <a:rPr lang="ko-KR" altLang="en-US" sz="700" dirty="0"/>
              <a:t>구조계산 자료를 종합하여 구조부재의 안전성</a:t>
            </a:r>
            <a:r>
              <a:rPr lang="en-US" altLang="ko-KR" sz="700" dirty="0"/>
              <a:t>, </a:t>
            </a:r>
            <a:r>
              <a:rPr lang="ko-KR" altLang="en-US" sz="700" dirty="0"/>
              <a:t>사용성</a:t>
            </a:r>
            <a:r>
              <a:rPr lang="en-US" altLang="ko-KR" sz="700" dirty="0"/>
              <a:t>, </a:t>
            </a:r>
            <a:r>
              <a:rPr lang="ko-KR" altLang="en-US" sz="700" dirty="0"/>
              <a:t>내구성 및 보수 필요성을 검토합니다</a:t>
            </a:r>
            <a:r>
              <a:rPr lang="en-US" altLang="ko-KR" sz="700" dirty="0"/>
              <a:t>.</a:t>
            </a:r>
          </a:p>
          <a:p>
            <a:r>
              <a:rPr lang="en-US" altLang="ko-KR" sz="700" b="1" dirty="0"/>
              <a:t>05. </a:t>
            </a:r>
            <a:r>
              <a:rPr lang="ko-KR" altLang="en-US" sz="700" b="1" dirty="0"/>
              <a:t>결과보고서 제출</a:t>
            </a:r>
          </a:p>
          <a:p>
            <a:r>
              <a:rPr lang="ko-KR" altLang="en-US" sz="700" dirty="0"/>
              <a:t>결함 현황</a:t>
            </a:r>
            <a:r>
              <a:rPr lang="en-US" altLang="ko-KR" sz="700" dirty="0"/>
              <a:t>, </a:t>
            </a:r>
            <a:r>
              <a:rPr lang="ko-KR" altLang="en-US" sz="700" dirty="0"/>
              <a:t>원인 분석</a:t>
            </a:r>
            <a:r>
              <a:rPr lang="en-US" altLang="ko-KR" sz="700" dirty="0"/>
              <a:t>, </a:t>
            </a:r>
            <a:r>
              <a:rPr lang="ko-KR" altLang="en-US" sz="700" dirty="0"/>
              <a:t>안전성 검토 결과</a:t>
            </a:r>
            <a:r>
              <a:rPr lang="en-US" altLang="ko-KR" sz="700" dirty="0"/>
              <a:t>, </a:t>
            </a:r>
            <a:r>
              <a:rPr lang="ko-KR" altLang="en-US" sz="700" dirty="0"/>
              <a:t>보수</a:t>
            </a:r>
            <a:r>
              <a:rPr lang="en-US" altLang="ko-KR" sz="700" dirty="0"/>
              <a:t>·</a:t>
            </a:r>
            <a:r>
              <a:rPr lang="ko-KR" altLang="en-US" sz="700" dirty="0"/>
              <a:t>보강 방향 및 유지관리 의견을 포함한 보고서를 제공합니다</a:t>
            </a:r>
            <a:r>
              <a:rPr lang="en-US" altLang="ko-KR" sz="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5368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262F6-FE4B-DF1C-BBD6-9C66F22E9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7811CF-88F3-09E9-6B39-75A307D585E8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052334-79F6-09CB-BA9F-B6BF9285F0F4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사업분야</a:t>
            </a:r>
            <a:r>
              <a:rPr lang="en-US" altLang="ko-KR" sz="1200" b="1" dirty="0"/>
              <a:t> - </a:t>
            </a:r>
            <a:r>
              <a:rPr lang="ko-KR" altLang="en-US" sz="1200" b="1" dirty="0"/>
              <a:t>법원감정전문기관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913886-FF00-D1A1-5A3C-6F3AD8152F06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D5E062A-7446-2FF0-8758-2765B8AEBFEA}"/>
              </a:ext>
            </a:extLst>
          </p:cNvPr>
          <p:cNvSpPr/>
          <p:nvPr/>
        </p:nvSpPr>
        <p:spPr>
          <a:xfrm>
            <a:off x="562451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안전진단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4F71654-68B9-1807-480A-636B78F40BF8}"/>
              </a:ext>
            </a:extLst>
          </p:cNvPr>
          <p:cNvSpPr/>
          <p:nvPr/>
        </p:nvSpPr>
        <p:spPr>
          <a:xfrm>
            <a:off x="6668532" y="1158050"/>
            <a:ext cx="942976" cy="620559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법원감정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82D248-D778-0FD8-31C2-709648A073CB}"/>
              </a:ext>
            </a:extLst>
          </p:cNvPr>
          <p:cNvSpPr/>
          <p:nvPr/>
        </p:nvSpPr>
        <p:spPr>
          <a:xfrm>
            <a:off x="8756572" y="1158050"/>
            <a:ext cx="1182250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건축</a:t>
            </a:r>
            <a:r>
              <a:rPr lang="en-US" altLang="ko-KR" sz="1100" b="1" dirty="0">
                <a:solidFill>
                  <a:schemeClr val="tx1"/>
                </a:solidFill>
              </a:rPr>
              <a:t>·</a:t>
            </a:r>
            <a:r>
              <a:rPr lang="ko-KR" altLang="en-US" sz="1100" b="1" dirty="0">
                <a:solidFill>
                  <a:schemeClr val="tx1"/>
                </a:solidFill>
              </a:rPr>
              <a:t>토목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구조검토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해체계획서 작성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D683091-4E0A-6B07-4155-F68BF35C3807}"/>
              </a:ext>
            </a:extLst>
          </p:cNvPr>
          <p:cNvSpPr/>
          <p:nvPr/>
        </p:nvSpPr>
        <p:spPr>
          <a:xfrm>
            <a:off x="10124325" y="1577150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사업분야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법원감정전문기관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96CE3-0459-AD41-D73B-294FA5D2647E}"/>
              </a:ext>
            </a:extLst>
          </p:cNvPr>
          <p:cNvSpPr txBox="1"/>
          <p:nvPr/>
        </p:nvSpPr>
        <p:spPr>
          <a:xfrm>
            <a:off x="326572" y="1824082"/>
            <a:ext cx="82875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/>
              <a:t>건축</a:t>
            </a:r>
            <a:r>
              <a:rPr lang="en-US" altLang="ko-KR" sz="600" b="1" dirty="0"/>
              <a:t>·</a:t>
            </a:r>
            <a:r>
              <a:rPr lang="ko-KR" altLang="en-US" sz="600" b="1" dirty="0"/>
              <a:t>토목 분야의 분쟁 사안을 객관적인 기술 검토로 분석합니다</a:t>
            </a:r>
            <a:r>
              <a:rPr lang="en-US" altLang="ko-KR" sz="600" b="1" dirty="0"/>
              <a:t>.</a:t>
            </a:r>
          </a:p>
          <a:p>
            <a:r>
              <a:rPr lang="ko-KR" altLang="en-US" sz="600" dirty="0"/>
              <a:t>건축 및 토목 분야의 전문 기술력을 바탕으로 법원감정</a:t>
            </a:r>
            <a:r>
              <a:rPr lang="en-US" altLang="ko-KR" sz="600" dirty="0"/>
              <a:t>, </a:t>
            </a:r>
            <a:r>
              <a:rPr lang="ko-KR" altLang="en-US" sz="600" dirty="0"/>
              <a:t>건설분쟁 감정</a:t>
            </a:r>
            <a:r>
              <a:rPr lang="en-US" altLang="ko-KR" sz="600" dirty="0"/>
              <a:t>, </a:t>
            </a:r>
            <a:r>
              <a:rPr lang="ko-KR" altLang="en-US" sz="600" dirty="0"/>
              <a:t>하자 및 공사비 관련 기술검토 업무를 수행합니다</a:t>
            </a:r>
            <a:r>
              <a:rPr lang="en-US" altLang="ko-KR" sz="600" dirty="0"/>
              <a:t>.</a:t>
            </a:r>
            <a:br>
              <a:rPr lang="en-US" altLang="ko-KR" sz="600" dirty="0"/>
            </a:br>
            <a:r>
              <a:rPr lang="ko-KR" altLang="en-US" sz="600" dirty="0"/>
              <a:t>건설공사 과정에서 발생하는 하자</a:t>
            </a:r>
            <a:r>
              <a:rPr lang="en-US" altLang="ko-KR" sz="600" dirty="0"/>
              <a:t>, </a:t>
            </a:r>
            <a:r>
              <a:rPr lang="ko-KR" altLang="en-US" sz="600" dirty="0"/>
              <a:t>부실시공</a:t>
            </a:r>
            <a:r>
              <a:rPr lang="en-US" altLang="ko-KR" sz="600" dirty="0"/>
              <a:t>, </a:t>
            </a:r>
            <a:r>
              <a:rPr lang="ko-KR" altLang="en-US" sz="600" dirty="0"/>
              <a:t>공사대금</a:t>
            </a:r>
            <a:r>
              <a:rPr lang="en-US" altLang="ko-KR" sz="600" dirty="0"/>
              <a:t>, </a:t>
            </a:r>
            <a:r>
              <a:rPr lang="ko-KR" altLang="en-US" sz="600" dirty="0" err="1"/>
              <a:t>기성고</a:t>
            </a:r>
            <a:r>
              <a:rPr lang="en-US" altLang="ko-KR" sz="600" dirty="0"/>
              <a:t>, </a:t>
            </a:r>
            <a:r>
              <a:rPr lang="ko-KR" altLang="en-US" sz="600" dirty="0"/>
              <a:t>추가공사비</a:t>
            </a:r>
            <a:r>
              <a:rPr lang="en-US" altLang="ko-KR" sz="600" dirty="0"/>
              <a:t>, </a:t>
            </a:r>
            <a:r>
              <a:rPr lang="ko-KR" altLang="en-US" sz="600" dirty="0"/>
              <a:t>공사중단</a:t>
            </a:r>
            <a:r>
              <a:rPr lang="en-US" altLang="ko-KR" sz="600" dirty="0"/>
              <a:t>, </a:t>
            </a:r>
            <a:r>
              <a:rPr lang="ko-KR" altLang="en-US" sz="600" dirty="0"/>
              <a:t>인접지 피해 등은 전문적인 기술 판단이 필요한 영역입니다</a:t>
            </a:r>
            <a:r>
              <a:rPr lang="en-US" altLang="ko-KR" sz="600" dirty="0"/>
              <a:t>. </a:t>
            </a:r>
            <a:r>
              <a:rPr lang="ko-KR" altLang="en-US" sz="600" dirty="0"/>
              <a:t>당사는 현장조사</a:t>
            </a:r>
            <a:r>
              <a:rPr lang="en-US" altLang="ko-KR" sz="600" dirty="0"/>
              <a:t>, </a:t>
            </a:r>
            <a:r>
              <a:rPr lang="ko-KR" altLang="en-US" sz="600" dirty="0"/>
              <a:t>설계도서 검토</a:t>
            </a:r>
            <a:r>
              <a:rPr lang="en-US" altLang="ko-KR" sz="600" dirty="0"/>
              <a:t>, </a:t>
            </a:r>
            <a:r>
              <a:rPr lang="ko-KR" altLang="en-US" sz="600" dirty="0"/>
              <a:t>시공상태 확인</a:t>
            </a:r>
            <a:r>
              <a:rPr lang="en-US" altLang="ko-KR" sz="600" dirty="0"/>
              <a:t>, </a:t>
            </a:r>
            <a:r>
              <a:rPr lang="ko-KR" altLang="en-US" sz="600" dirty="0"/>
              <a:t>수량산출 및 공사비 검토를 통해 분쟁 사안의 사실관계를 객관적으로 분석하고</a:t>
            </a:r>
            <a:r>
              <a:rPr lang="en-US" altLang="ko-KR" sz="600" dirty="0"/>
              <a:t>, </a:t>
            </a:r>
            <a:r>
              <a:rPr lang="ko-KR" altLang="en-US" sz="600" dirty="0"/>
              <a:t>법원 및 관계자가 이해할 수 있는 형태의 감정자료와 기술의견을 제공합니다</a:t>
            </a:r>
            <a:r>
              <a:rPr lang="en-US" altLang="ko-KR" sz="600" dirty="0"/>
              <a:t>.</a:t>
            </a:r>
          </a:p>
          <a:p>
            <a:r>
              <a:rPr lang="ko-KR" altLang="en-US" sz="600" dirty="0"/>
              <a:t>법원감정은 법관의 판단을 보조하기 위해 전문지식과 경험을 가진 자가 감정사항에 대해 조사</a:t>
            </a:r>
            <a:r>
              <a:rPr lang="en-US" altLang="ko-KR" sz="600" dirty="0"/>
              <a:t>·</a:t>
            </a:r>
            <a:r>
              <a:rPr lang="ko-KR" altLang="en-US" sz="600" dirty="0"/>
              <a:t>분석한 결과를 법원에 보고하는 증거조사 방법으로 설명됩니다</a:t>
            </a:r>
            <a:r>
              <a:rPr lang="en-US" altLang="ko-KR" sz="600" dirty="0"/>
              <a:t>. </a:t>
            </a:r>
            <a:r>
              <a:rPr lang="ko-KR" altLang="en-US" sz="600" dirty="0"/>
              <a:t>건설감정 영역에서는 하자감정</a:t>
            </a:r>
            <a:r>
              <a:rPr lang="en-US" altLang="ko-KR" sz="600" dirty="0"/>
              <a:t>, </a:t>
            </a:r>
            <a:r>
              <a:rPr lang="ko-KR" altLang="en-US" sz="600" dirty="0"/>
              <a:t>공사비 감정</a:t>
            </a:r>
            <a:r>
              <a:rPr lang="en-US" altLang="ko-KR" sz="600" dirty="0"/>
              <a:t>, </a:t>
            </a:r>
            <a:r>
              <a:rPr lang="ko-KR" altLang="en-US" sz="600" dirty="0"/>
              <a:t>건축물 피해 감정</a:t>
            </a:r>
            <a:r>
              <a:rPr lang="en-US" altLang="ko-KR" sz="600" dirty="0"/>
              <a:t>, </a:t>
            </a:r>
            <a:r>
              <a:rPr lang="ko-KR" altLang="en-US" sz="600" dirty="0"/>
              <a:t>상태확인 감정 등이 주요 유형으로 다루어집니다</a:t>
            </a:r>
            <a:r>
              <a:rPr lang="en-US" altLang="ko-KR" sz="600" dirty="0"/>
              <a:t>. </a:t>
            </a:r>
          </a:p>
          <a:p>
            <a:br>
              <a:rPr lang="en-US" altLang="ko-KR" sz="600" dirty="0"/>
            </a:br>
            <a:endParaRPr lang="en-US" altLang="ko-KR" sz="600" dirty="0"/>
          </a:p>
          <a:p>
            <a:r>
              <a:rPr lang="ko-KR" altLang="en-US" sz="600" b="1" dirty="0"/>
              <a:t>주요 업무</a:t>
            </a:r>
          </a:p>
          <a:p>
            <a:pPr>
              <a:buNone/>
            </a:pPr>
            <a:r>
              <a:rPr lang="ko-KR" altLang="en-US" sz="600" b="1" dirty="0"/>
              <a:t>하자 및 하자보수비 감정</a:t>
            </a:r>
          </a:p>
          <a:p>
            <a:pPr>
              <a:buNone/>
            </a:pPr>
            <a:r>
              <a:rPr lang="ko-KR" altLang="en-US" sz="600" dirty="0"/>
              <a:t>건축물 또는 토목구조물에 발생한 균열</a:t>
            </a:r>
            <a:r>
              <a:rPr lang="en-US" altLang="ko-KR" sz="600" dirty="0"/>
              <a:t>, </a:t>
            </a:r>
            <a:r>
              <a:rPr lang="ko-KR" altLang="en-US" sz="600" dirty="0"/>
              <a:t>누수</a:t>
            </a:r>
            <a:r>
              <a:rPr lang="en-US" altLang="ko-KR" sz="600" dirty="0"/>
              <a:t>, </a:t>
            </a:r>
            <a:r>
              <a:rPr lang="ko-KR" altLang="en-US" sz="600" dirty="0"/>
              <a:t>침하</a:t>
            </a:r>
            <a:r>
              <a:rPr lang="en-US" altLang="ko-KR" sz="600" dirty="0"/>
              <a:t>, </a:t>
            </a:r>
            <a:r>
              <a:rPr lang="ko-KR" altLang="en-US" sz="600" dirty="0"/>
              <a:t>처짐</a:t>
            </a:r>
            <a:r>
              <a:rPr lang="en-US" altLang="ko-KR" sz="600" dirty="0"/>
              <a:t>, </a:t>
            </a:r>
            <a:r>
              <a:rPr lang="ko-KR" altLang="en-US" sz="600" dirty="0"/>
              <a:t>박리</a:t>
            </a:r>
            <a:r>
              <a:rPr lang="en-US" altLang="ko-KR" sz="600" dirty="0"/>
              <a:t>·</a:t>
            </a:r>
            <a:r>
              <a:rPr lang="ko-KR" altLang="en-US" sz="600" dirty="0" err="1"/>
              <a:t>박락</a:t>
            </a:r>
            <a:r>
              <a:rPr lang="en-US" altLang="ko-KR" sz="600" dirty="0"/>
              <a:t>, </a:t>
            </a:r>
            <a:r>
              <a:rPr lang="ko-KR" altLang="en-US" sz="600" dirty="0"/>
              <a:t>철근노출 등 하자 여부를 조사하고</a:t>
            </a:r>
            <a:r>
              <a:rPr lang="en-US" altLang="ko-KR" sz="600" dirty="0"/>
              <a:t>, </a:t>
            </a:r>
            <a:r>
              <a:rPr lang="ko-KR" altLang="en-US" sz="600" dirty="0"/>
              <a:t>보수 필요성과 적정 하자보수비를 산정합니다</a:t>
            </a:r>
            <a:r>
              <a:rPr lang="en-US" altLang="ko-KR" sz="600" dirty="0"/>
              <a:t>.</a:t>
            </a:r>
          </a:p>
          <a:p>
            <a:pPr>
              <a:buNone/>
            </a:pPr>
            <a:r>
              <a:rPr lang="ko-KR" altLang="en-US" sz="600" b="1" dirty="0"/>
              <a:t>공사비 및 추가공사비 감정</a:t>
            </a:r>
          </a:p>
          <a:p>
            <a:pPr>
              <a:buNone/>
            </a:pPr>
            <a:r>
              <a:rPr lang="ko-KR" altLang="en-US" sz="600" dirty="0"/>
              <a:t>계약내역</a:t>
            </a:r>
            <a:r>
              <a:rPr lang="en-US" altLang="ko-KR" sz="600" dirty="0"/>
              <a:t>, </a:t>
            </a:r>
            <a:r>
              <a:rPr lang="ko-KR" altLang="en-US" sz="600" dirty="0"/>
              <a:t>설계도서</a:t>
            </a:r>
            <a:r>
              <a:rPr lang="en-US" altLang="ko-KR" sz="600" dirty="0"/>
              <a:t>, </a:t>
            </a:r>
            <a:r>
              <a:rPr lang="ko-KR" altLang="en-US" sz="600" dirty="0"/>
              <a:t>변경내역</a:t>
            </a:r>
            <a:r>
              <a:rPr lang="en-US" altLang="ko-KR" sz="600" dirty="0"/>
              <a:t>, </a:t>
            </a:r>
            <a:r>
              <a:rPr lang="ko-KR" altLang="en-US" sz="600" dirty="0"/>
              <a:t>시공물량</a:t>
            </a:r>
            <a:r>
              <a:rPr lang="en-US" altLang="ko-KR" sz="600" dirty="0"/>
              <a:t>, </a:t>
            </a:r>
            <a:r>
              <a:rPr lang="ko-KR" altLang="en-US" sz="600" dirty="0"/>
              <a:t>현장상태를 검토하여 적정 공사비와 추가공사비 발생 여부 및 금액을 분석합니다</a:t>
            </a:r>
            <a:r>
              <a:rPr lang="en-US" altLang="ko-KR" sz="600" dirty="0"/>
              <a:t>.</a:t>
            </a:r>
          </a:p>
          <a:p>
            <a:pPr>
              <a:buNone/>
            </a:pPr>
            <a:r>
              <a:rPr lang="ko-KR" altLang="en-US" sz="600" b="1" dirty="0" err="1"/>
              <a:t>기성고</a:t>
            </a:r>
            <a:r>
              <a:rPr lang="ko-KR" altLang="en-US" sz="600" b="1" dirty="0"/>
              <a:t> 감정</a:t>
            </a:r>
          </a:p>
          <a:p>
            <a:pPr>
              <a:buNone/>
            </a:pPr>
            <a:r>
              <a:rPr lang="ko-KR" altLang="en-US" sz="600" dirty="0"/>
              <a:t>공사 중단</a:t>
            </a:r>
            <a:r>
              <a:rPr lang="en-US" altLang="ko-KR" sz="600" dirty="0"/>
              <a:t>, </a:t>
            </a:r>
            <a:r>
              <a:rPr lang="ko-KR" altLang="en-US" sz="600" dirty="0"/>
              <a:t>계약 해지</a:t>
            </a:r>
            <a:r>
              <a:rPr lang="en-US" altLang="ko-KR" sz="600" dirty="0"/>
              <a:t>, </a:t>
            </a:r>
            <a:r>
              <a:rPr lang="ko-KR" altLang="en-US" sz="600" dirty="0"/>
              <a:t>공사대금 분쟁 등이 발생한 경우 실제 시공된 공정과 물량을 확인하여 </a:t>
            </a:r>
            <a:r>
              <a:rPr lang="ko-KR" altLang="en-US" sz="600" dirty="0" err="1"/>
              <a:t>기성률과</a:t>
            </a:r>
            <a:r>
              <a:rPr lang="ko-KR" altLang="en-US" sz="600" dirty="0"/>
              <a:t> 기성금액을 산정합니다</a:t>
            </a:r>
            <a:r>
              <a:rPr lang="en-US" altLang="ko-KR" sz="600" dirty="0"/>
              <a:t>.</a:t>
            </a:r>
          </a:p>
          <a:p>
            <a:pPr>
              <a:buNone/>
            </a:pPr>
            <a:r>
              <a:rPr lang="ko-KR" altLang="en-US" sz="600" b="1" dirty="0"/>
              <a:t>건축</a:t>
            </a:r>
            <a:r>
              <a:rPr lang="en-US" altLang="ko-KR" sz="600" b="1" dirty="0"/>
              <a:t>·</a:t>
            </a:r>
            <a:r>
              <a:rPr lang="ko-KR" altLang="en-US" sz="600" b="1" dirty="0"/>
              <a:t>토목 피해 감정</a:t>
            </a:r>
          </a:p>
          <a:p>
            <a:pPr>
              <a:buNone/>
            </a:pPr>
            <a:r>
              <a:rPr lang="ko-KR" altLang="en-US" sz="600" dirty="0"/>
              <a:t>인접지 공사</a:t>
            </a:r>
            <a:r>
              <a:rPr lang="en-US" altLang="ko-KR" sz="600" dirty="0"/>
              <a:t>, </a:t>
            </a:r>
            <a:r>
              <a:rPr lang="ko-KR" altLang="en-US" sz="600" dirty="0"/>
              <a:t>굴착</a:t>
            </a:r>
            <a:r>
              <a:rPr lang="en-US" altLang="ko-KR" sz="600" dirty="0"/>
              <a:t>, </a:t>
            </a:r>
            <a:r>
              <a:rPr lang="ko-KR" altLang="en-US" sz="600" dirty="0"/>
              <a:t>진동</a:t>
            </a:r>
            <a:r>
              <a:rPr lang="en-US" altLang="ko-KR" sz="600" dirty="0"/>
              <a:t>, </a:t>
            </a:r>
            <a:r>
              <a:rPr lang="ko-KR" altLang="en-US" sz="600" dirty="0"/>
              <a:t>침하</a:t>
            </a:r>
            <a:r>
              <a:rPr lang="en-US" altLang="ko-KR" sz="600" dirty="0"/>
              <a:t>, </a:t>
            </a:r>
            <a:r>
              <a:rPr lang="ko-KR" altLang="en-US" sz="600" dirty="0"/>
              <a:t>누수 등으로 발생한 건축물 및 구조물 피해를 조사하고</a:t>
            </a:r>
            <a:r>
              <a:rPr lang="en-US" altLang="ko-KR" sz="600" dirty="0"/>
              <a:t>, </a:t>
            </a:r>
            <a:r>
              <a:rPr lang="ko-KR" altLang="en-US" sz="600" dirty="0"/>
              <a:t>손상 정도와 복구비를 검토합니다</a:t>
            </a:r>
            <a:r>
              <a:rPr lang="en-US" altLang="ko-KR" sz="600" dirty="0"/>
              <a:t>.</a:t>
            </a:r>
          </a:p>
          <a:p>
            <a:pPr>
              <a:buNone/>
            </a:pPr>
            <a:r>
              <a:rPr lang="ko-KR" altLang="en-US" sz="600" b="1" dirty="0"/>
              <a:t>상태확인 및 현황조사</a:t>
            </a:r>
          </a:p>
          <a:p>
            <a:pPr>
              <a:buNone/>
            </a:pPr>
            <a:r>
              <a:rPr lang="ko-KR" altLang="en-US" sz="600" dirty="0"/>
              <a:t>분쟁 대상 구조물의 시공 여부</a:t>
            </a:r>
            <a:r>
              <a:rPr lang="en-US" altLang="ko-KR" sz="600" dirty="0"/>
              <a:t>, </a:t>
            </a:r>
            <a:r>
              <a:rPr lang="ko-KR" altLang="en-US" sz="600" dirty="0" err="1"/>
              <a:t>공정률</a:t>
            </a:r>
            <a:r>
              <a:rPr lang="en-US" altLang="ko-KR" sz="600" dirty="0"/>
              <a:t>, </a:t>
            </a:r>
            <a:r>
              <a:rPr lang="ko-KR" altLang="en-US" sz="600" dirty="0"/>
              <a:t>사용 자재</a:t>
            </a:r>
            <a:r>
              <a:rPr lang="en-US" altLang="ko-KR" sz="600" dirty="0"/>
              <a:t>, </a:t>
            </a:r>
            <a:r>
              <a:rPr lang="ko-KR" altLang="en-US" sz="600" dirty="0"/>
              <a:t>부재 규격</a:t>
            </a:r>
            <a:r>
              <a:rPr lang="en-US" altLang="ko-KR" sz="600" dirty="0"/>
              <a:t>, </a:t>
            </a:r>
            <a:r>
              <a:rPr lang="ko-KR" altLang="en-US" sz="600" dirty="0"/>
              <a:t>손상 상태 등을 확인하여 감정 및 소송자료로 활용 가능한 기술자료를 작성합니다</a:t>
            </a:r>
            <a:r>
              <a:rPr lang="en-US" altLang="ko-KR" sz="600" dirty="0"/>
              <a:t>.</a:t>
            </a:r>
          </a:p>
          <a:p>
            <a:br>
              <a:rPr lang="en-US" altLang="ko-KR" sz="600" dirty="0"/>
            </a:br>
            <a:endParaRPr lang="en-US" altLang="ko-KR" sz="600" dirty="0"/>
          </a:p>
          <a:p>
            <a:r>
              <a:rPr lang="ko-KR" altLang="en-US" sz="600" b="1" dirty="0"/>
              <a:t>감정 대상</a:t>
            </a:r>
          </a:p>
          <a:p>
            <a:r>
              <a:rPr lang="ko-KR" altLang="en-US" sz="600" dirty="0"/>
              <a:t>공동주택</a:t>
            </a:r>
            <a:r>
              <a:rPr lang="en-US" altLang="ko-KR" sz="600" dirty="0"/>
              <a:t>, </a:t>
            </a:r>
            <a:r>
              <a:rPr lang="ko-KR" altLang="en-US" sz="600" dirty="0"/>
              <a:t>단독주택</a:t>
            </a:r>
            <a:r>
              <a:rPr lang="en-US" altLang="ko-KR" sz="600" dirty="0"/>
              <a:t>, </a:t>
            </a:r>
            <a:r>
              <a:rPr lang="ko-KR" altLang="en-US" sz="600" dirty="0"/>
              <a:t>근린생활시설</a:t>
            </a:r>
            <a:r>
              <a:rPr lang="en-US" altLang="ko-KR" sz="600" dirty="0"/>
              <a:t>, </a:t>
            </a:r>
            <a:r>
              <a:rPr lang="ko-KR" altLang="en-US" sz="600" dirty="0"/>
              <a:t>업무시설</a:t>
            </a:r>
            <a:r>
              <a:rPr lang="en-US" altLang="ko-KR" sz="600" dirty="0"/>
              <a:t>, </a:t>
            </a:r>
            <a:r>
              <a:rPr lang="ko-KR" altLang="en-US" sz="600" dirty="0"/>
              <a:t>공장</a:t>
            </a:r>
            <a:r>
              <a:rPr lang="en-US" altLang="ko-KR" sz="600" dirty="0"/>
              <a:t>, </a:t>
            </a:r>
            <a:r>
              <a:rPr lang="ko-KR" altLang="en-US" sz="600" dirty="0"/>
              <a:t>창고 등 건축물 </a:t>
            </a:r>
          </a:p>
          <a:p>
            <a:r>
              <a:rPr lang="ko-KR" altLang="en-US" sz="600" dirty="0"/>
              <a:t>옹벽</a:t>
            </a:r>
            <a:r>
              <a:rPr lang="en-US" altLang="ko-KR" sz="600" dirty="0"/>
              <a:t>, </a:t>
            </a:r>
            <a:r>
              <a:rPr lang="ko-KR" altLang="en-US" sz="600" dirty="0" err="1"/>
              <a:t>석축</a:t>
            </a:r>
            <a:r>
              <a:rPr lang="en-US" altLang="ko-KR" sz="600" dirty="0"/>
              <a:t>, </a:t>
            </a:r>
            <a:r>
              <a:rPr lang="ko-KR" altLang="en-US" sz="600" dirty="0"/>
              <a:t>포장</a:t>
            </a:r>
            <a:r>
              <a:rPr lang="en-US" altLang="ko-KR" sz="600" dirty="0"/>
              <a:t>, </a:t>
            </a:r>
            <a:r>
              <a:rPr lang="ko-KR" altLang="en-US" sz="600" dirty="0"/>
              <a:t>배수시설</a:t>
            </a:r>
            <a:r>
              <a:rPr lang="en-US" altLang="ko-KR" sz="600" dirty="0"/>
              <a:t>, </a:t>
            </a:r>
            <a:r>
              <a:rPr lang="ko-KR" altLang="en-US" sz="600" dirty="0" err="1"/>
              <a:t>흙막이</a:t>
            </a:r>
            <a:r>
              <a:rPr lang="en-US" altLang="ko-KR" sz="600" dirty="0"/>
              <a:t>, </a:t>
            </a:r>
            <a:r>
              <a:rPr lang="ko-KR" altLang="en-US" sz="600" dirty="0"/>
              <a:t>지하구조물 등 토목 관련 시설 </a:t>
            </a:r>
          </a:p>
          <a:p>
            <a:r>
              <a:rPr lang="ko-KR" altLang="en-US" sz="600" dirty="0"/>
              <a:t>신축</a:t>
            </a:r>
            <a:r>
              <a:rPr lang="en-US" altLang="ko-KR" sz="600" dirty="0"/>
              <a:t>·</a:t>
            </a:r>
            <a:r>
              <a:rPr lang="ko-KR" altLang="en-US" sz="600" dirty="0"/>
              <a:t>증축</a:t>
            </a:r>
            <a:r>
              <a:rPr lang="en-US" altLang="ko-KR" sz="600" dirty="0"/>
              <a:t>·</a:t>
            </a:r>
            <a:r>
              <a:rPr lang="ko-KR" altLang="en-US" sz="600" dirty="0"/>
              <a:t>리모델링</a:t>
            </a:r>
            <a:r>
              <a:rPr lang="en-US" altLang="ko-KR" sz="600" dirty="0"/>
              <a:t>·</a:t>
            </a:r>
            <a:r>
              <a:rPr lang="ko-KR" altLang="en-US" sz="600" dirty="0"/>
              <a:t>대수선 공사 현장 </a:t>
            </a:r>
          </a:p>
          <a:p>
            <a:r>
              <a:rPr lang="ko-KR" altLang="en-US" sz="600" dirty="0"/>
              <a:t>공사 중단 또는 계약 해지 현장 </a:t>
            </a:r>
          </a:p>
          <a:p>
            <a:r>
              <a:rPr lang="ko-KR" altLang="en-US" sz="600" dirty="0"/>
              <a:t>하자보수비</a:t>
            </a:r>
            <a:r>
              <a:rPr lang="en-US" altLang="ko-KR" sz="600" dirty="0"/>
              <a:t>, </a:t>
            </a:r>
            <a:r>
              <a:rPr lang="ko-KR" altLang="en-US" sz="600" dirty="0"/>
              <a:t>공사비</a:t>
            </a:r>
            <a:r>
              <a:rPr lang="en-US" altLang="ko-KR" sz="600" dirty="0"/>
              <a:t>, </a:t>
            </a:r>
            <a:r>
              <a:rPr lang="ko-KR" altLang="en-US" sz="600" dirty="0"/>
              <a:t>추가공사비</a:t>
            </a:r>
            <a:r>
              <a:rPr lang="en-US" altLang="ko-KR" sz="600" dirty="0"/>
              <a:t>, </a:t>
            </a:r>
            <a:r>
              <a:rPr lang="ko-KR" altLang="en-US" sz="600" dirty="0" err="1"/>
              <a:t>기성고</a:t>
            </a:r>
            <a:r>
              <a:rPr lang="ko-KR" altLang="en-US" sz="600" dirty="0"/>
              <a:t> 산정이 필요한 현장 </a:t>
            </a:r>
          </a:p>
          <a:p>
            <a:r>
              <a:rPr lang="ko-KR" altLang="en-US" sz="600" dirty="0"/>
              <a:t>인접 공사로 인한 균열</a:t>
            </a:r>
            <a:r>
              <a:rPr lang="en-US" altLang="ko-KR" sz="600" dirty="0"/>
              <a:t>, </a:t>
            </a:r>
            <a:r>
              <a:rPr lang="ko-KR" altLang="en-US" sz="600" dirty="0"/>
              <a:t>침하</a:t>
            </a:r>
            <a:r>
              <a:rPr lang="en-US" altLang="ko-KR" sz="600" dirty="0"/>
              <a:t>, </a:t>
            </a:r>
            <a:r>
              <a:rPr lang="ko-KR" altLang="en-US" sz="600" dirty="0"/>
              <a:t>누수</a:t>
            </a:r>
            <a:r>
              <a:rPr lang="en-US" altLang="ko-KR" sz="600" dirty="0"/>
              <a:t>, </a:t>
            </a:r>
            <a:r>
              <a:rPr lang="ko-KR" altLang="en-US" sz="600" dirty="0"/>
              <a:t>진동 피해가 발생한 건축물 또는 구조물 </a:t>
            </a:r>
          </a:p>
          <a:p>
            <a:r>
              <a:rPr lang="ko-KR" altLang="en-US" sz="600" dirty="0"/>
              <a:t>법원</a:t>
            </a:r>
            <a:r>
              <a:rPr lang="en-US" altLang="ko-KR" sz="600" dirty="0"/>
              <a:t>, </a:t>
            </a:r>
            <a:r>
              <a:rPr lang="ko-KR" altLang="en-US" sz="600" dirty="0"/>
              <a:t>변호사</a:t>
            </a:r>
            <a:r>
              <a:rPr lang="en-US" altLang="ko-KR" sz="600" dirty="0"/>
              <a:t>, </a:t>
            </a:r>
            <a:r>
              <a:rPr lang="ko-KR" altLang="en-US" sz="600" dirty="0" err="1"/>
              <a:t>건축주</a:t>
            </a:r>
            <a:r>
              <a:rPr lang="en-US" altLang="ko-KR" sz="600" dirty="0"/>
              <a:t>, </a:t>
            </a:r>
            <a:r>
              <a:rPr lang="ko-KR" altLang="en-US" sz="600" dirty="0"/>
              <a:t>시공사</a:t>
            </a:r>
            <a:r>
              <a:rPr lang="en-US" altLang="ko-KR" sz="600" dirty="0"/>
              <a:t>, </a:t>
            </a:r>
            <a:r>
              <a:rPr lang="ko-KR" altLang="en-US" sz="600" dirty="0"/>
              <a:t>관리주체 등이 기술적 판단자료를 필요로 하는 사건 </a:t>
            </a:r>
          </a:p>
          <a:p>
            <a:br>
              <a:rPr lang="ko-KR" altLang="en-US" sz="600" dirty="0"/>
            </a:br>
            <a:endParaRPr lang="ko-KR" altLang="en-US" sz="600" dirty="0"/>
          </a:p>
          <a:p>
            <a:r>
              <a:rPr lang="ko-KR" altLang="en-US" sz="600" b="1" dirty="0"/>
              <a:t>수행 절차</a:t>
            </a:r>
          </a:p>
          <a:p>
            <a:r>
              <a:rPr lang="en-US" altLang="ko-KR" sz="600" b="1" dirty="0"/>
              <a:t>01. </a:t>
            </a:r>
            <a:r>
              <a:rPr lang="ko-KR" altLang="en-US" sz="600" b="1" dirty="0"/>
              <a:t>감정사항 및 자료 검토</a:t>
            </a:r>
          </a:p>
          <a:p>
            <a:r>
              <a:rPr lang="ko-KR" altLang="en-US" sz="600" dirty="0"/>
              <a:t>감정신청서</a:t>
            </a:r>
            <a:r>
              <a:rPr lang="en-US" altLang="ko-KR" sz="600" dirty="0"/>
              <a:t>, </a:t>
            </a:r>
            <a:r>
              <a:rPr lang="ko-KR" altLang="en-US" sz="600" dirty="0"/>
              <a:t>소장</a:t>
            </a:r>
            <a:r>
              <a:rPr lang="en-US" altLang="ko-KR" sz="600" dirty="0"/>
              <a:t>·</a:t>
            </a:r>
            <a:r>
              <a:rPr lang="ko-KR" altLang="en-US" sz="600" dirty="0"/>
              <a:t>준비서면</a:t>
            </a:r>
            <a:r>
              <a:rPr lang="en-US" altLang="ko-KR" sz="600" dirty="0"/>
              <a:t>, </a:t>
            </a:r>
            <a:r>
              <a:rPr lang="ko-KR" altLang="en-US" sz="600" dirty="0"/>
              <a:t>계약서</a:t>
            </a:r>
            <a:r>
              <a:rPr lang="en-US" altLang="ko-KR" sz="600" dirty="0"/>
              <a:t>, </a:t>
            </a:r>
            <a:r>
              <a:rPr lang="ko-KR" altLang="en-US" sz="600" dirty="0"/>
              <a:t>설계도서</a:t>
            </a:r>
            <a:r>
              <a:rPr lang="en-US" altLang="ko-KR" sz="600" dirty="0"/>
              <a:t>, </a:t>
            </a:r>
            <a:r>
              <a:rPr lang="ko-KR" altLang="en-US" sz="600" dirty="0"/>
              <a:t>내역서</a:t>
            </a:r>
            <a:r>
              <a:rPr lang="en-US" altLang="ko-KR" sz="600" dirty="0"/>
              <a:t>, </a:t>
            </a:r>
            <a:r>
              <a:rPr lang="ko-KR" altLang="en-US" sz="600" dirty="0"/>
              <a:t>시방서</a:t>
            </a:r>
            <a:r>
              <a:rPr lang="en-US" altLang="ko-KR" sz="600" dirty="0"/>
              <a:t>, </a:t>
            </a:r>
            <a:r>
              <a:rPr lang="ko-KR" altLang="en-US" sz="600" dirty="0"/>
              <a:t>사진자료</a:t>
            </a:r>
            <a:r>
              <a:rPr lang="en-US" altLang="ko-KR" sz="600" dirty="0"/>
              <a:t>, </a:t>
            </a:r>
            <a:r>
              <a:rPr lang="ko-KR" altLang="en-US" sz="600" dirty="0"/>
              <a:t>공사일지</a:t>
            </a:r>
            <a:r>
              <a:rPr lang="en-US" altLang="ko-KR" sz="600" dirty="0"/>
              <a:t>, </a:t>
            </a:r>
            <a:r>
              <a:rPr lang="ko-KR" altLang="en-US" sz="600" dirty="0"/>
              <a:t>준공자료 등을 검토합니다</a:t>
            </a:r>
            <a:r>
              <a:rPr lang="en-US" altLang="ko-KR" sz="600" dirty="0"/>
              <a:t>.</a:t>
            </a:r>
          </a:p>
          <a:p>
            <a:r>
              <a:rPr lang="en-US" altLang="ko-KR" sz="600" b="1" dirty="0"/>
              <a:t>02. </a:t>
            </a:r>
            <a:r>
              <a:rPr lang="ko-KR" altLang="en-US" sz="600" b="1" dirty="0"/>
              <a:t>쟁점 정리</a:t>
            </a:r>
          </a:p>
          <a:p>
            <a:r>
              <a:rPr lang="ko-KR" altLang="en-US" sz="600" dirty="0"/>
              <a:t>하자 여부</a:t>
            </a:r>
            <a:r>
              <a:rPr lang="en-US" altLang="ko-KR" sz="600" dirty="0"/>
              <a:t>, </a:t>
            </a:r>
            <a:r>
              <a:rPr lang="ko-KR" altLang="en-US" sz="600" dirty="0"/>
              <a:t>보수비</a:t>
            </a:r>
            <a:r>
              <a:rPr lang="en-US" altLang="ko-KR" sz="600" dirty="0"/>
              <a:t>, </a:t>
            </a:r>
            <a:r>
              <a:rPr lang="ko-KR" altLang="en-US" sz="600" dirty="0"/>
              <a:t>공사비</a:t>
            </a:r>
            <a:r>
              <a:rPr lang="en-US" altLang="ko-KR" sz="600" dirty="0"/>
              <a:t>, </a:t>
            </a:r>
            <a:r>
              <a:rPr lang="ko-KR" altLang="en-US" sz="600" dirty="0" err="1"/>
              <a:t>기성고</a:t>
            </a:r>
            <a:r>
              <a:rPr lang="en-US" altLang="ko-KR" sz="600" dirty="0"/>
              <a:t>, </a:t>
            </a:r>
            <a:r>
              <a:rPr lang="ko-KR" altLang="en-US" sz="600" dirty="0"/>
              <a:t>추가공사 여부</a:t>
            </a:r>
            <a:r>
              <a:rPr lang="en-US" altLang="ko-KR" sz="600" dirty="0"/>
              <a:t>, </a:t>
            </a:r>
            <a:r>
              <a:rPr lang="ko-KR" altLang="en-US" sz="600" dirty="0"/>
              <a:t>피해 원인 등 사건의 기술적 쟁점을 정리합니다</a:t>
            </a:r>
            <a:r>
              <a:rPr lang="en-US" altLang="ko-KR" sz="600" dirty="0"/>
              <a:t>.</a:t>
            </a:r>
          </a:p>
          <a:p>
            <a:r>
              <a:rPr lang="en-US" altLang="ko-KR" sz="600" b="1" dirty="0"/>
              <a:t>03. </a:t>
            </a:r>
            <a:r>
              <a:rPr lang="ko-KR" altLang="en-US" sz="600" b="1" dirty="0"/>
              <a:t>현장조사</a:t>
            </a:r>
          </a:p>
          <a:p>
            <a:r>
              <a:rPr lang="ko-KR" altLang="en-US" sz="600" dirty="0"/>
              <a:t>감정 대상 현장을 방문하여 구조물 상태</a:t>
            </a:r>
            <a:r>
              <a:rPr lang="en-US" altLang="ko-KR" sz="600" dirty="0"/>
              <a:t>, </a:t>
            </a:r>
            <a:r>
              <a:rPr lang="ko-KR" altLang="en-US" sz="600" dirty="0"/>
              <a:t>시공 여부</a:t>
            </a:r>
            <a:r>
              <a:rPr lang="en-US" altLang="ko-KR" sz="600" dirty="0"/>
              <a:t>, </a:t>
            </a:r>
            <a:r>
              <a:rPr lang="ko-KR" altLang="en-US" sz="600" dirty="0"/>
              <a:t>균열</a:t>
            </a:r>
            <a:r>
              <a:rPr lang="en-US" altLang="ko-KR" sz="600" dirty="0"/>
              <a:t>·</a:t>
            </a:r>
            <a:r>
              <a:rPr lang="ko-KR" altLang="en-US" sz="600" dirty="0"/>
              <a:t>누수</a:t>
            </a:r>
            <a:r>
              <a:rPr lang="en-US" altLang="ko-KR" sz="600" dirty="0"/>
              <a:t>·</a:t>
            </a:r>
            <a:r>
              <a:rPr lang="ko-KR" altLang="en-US" sz="600" dirty="0"/>
              <a:t>침하 등 결함 현황을 조사하고 필요한 경우 실측 및 사진기록을 진행합니다</a:t>
            </a:r>
            <a:r>
              <a:rPr lang="en-US" altLang="ko-KR" sz="600" dirty="0"/>
              <a:t>.</a:t>
            </a:r>
          </a:p>
          <a:p>
            <a:r>
              <a:rPr lang="en-US" altLang="ko-KR" sz="600" b="1" dirty="0"/>
              <a:t>04. </a:t>
            </a:r>
            <a:r>
              <a:rPr lang="ko-KR" altLang="en-US" sz="600" b="1" dirty="0"/>
              <a:t>수량 및 비용 검토</a:t>
            </a:r>
          </a:p>
          <a:p>
            <a:r>
              <a:rPr lang="ko-KR" altLang="en-US" sz="600" dirty="0"/>
              <a:t>조사 결과와 설계도서</a:t>
            </a:r>
            <a:r>
              <a:rPr lang="en-US" altLang="ko-KR" sz="600" dirty="0"/>
              <a:t>, </a:t>
            </a:r>
            <a:r>
              <a:rPr lang="ko-KR" altLang="en-US" sz="600" dirty="0"/>
              <a:t>내역서</a:t>
            </a:r>
            <a:r>
              <a:rPr lang="en-US" altLang="ko-KR" sz="600" dirty="0"/>
              <a:t>, </a:t>
            </a:r>
            <a:r>
              <a:rPr lang="ko-KR" altLang="en-US" sz="600" dirty="0" err="1"/>
              <a:t>표준품셈</a:t>
            </a:r>
            <a:r>
              <a:rPr lang="en-US" altLang="ko-KR" sz="600" dirty="0"/>
              <a:t>, </a:t>
            </a:r>
            <a:r>
              <a:rPr lang="ko-KR" altLang="en-US" sz="600" dirty="0"/>
              <a:t>물가자료 등을 바탕으로 보수물량</a:t>
            </a:r>
            <a:r>
              <a:rPr lang="en-US" altLang="ko-KR" sz="600" dirty="0"/>
              <a:t>, </a:t>
            </a:r>
            <a:r>
              <a:rPr lang="ko-KR" altLang="en-US" sz="600" dirty="0"/>
              <a:t>공사물량</a:t>
            </a:r>
            <a:r>
              <a:rPr lang="en-US" altLang="ko-KR" sz="600" dirty="0"/>
              <a:t>, </a:t>
            </a:r>
            <a:r>
              <a:rPr lang="ko-KR" altLang="en-US" sz="600" dirty="0"/>
              <a:t>기성금액</a:t>
            </a:r>
            <a:r>
              <a:rPr lang="en-US" altLang="ko-KR" sz="600" dirty="0"/>
              <a:t>, </a:t>
            </a:r>
            <a:r>
              <a:rPr lang="ko-KR" altLang="en-US" sz="600" dirty="0"/>
              <a:t>추가공사비 등을 산정합니다</a:t>
            </a:r>
            <a:r>
              <a:rPr lang="en-US" altLang="ko-KR" sz="600" dirty="0"/>
              <a:t>.</a:t>
            </a:r>
          </a:p>
          <a:p>
            <a:r>
              <a:rPr lang="en-US" altLang="ko-KR" sz="600" b="1" dirty="0"/>
              <a:t>05. </a:t>
            </a:r>
            <a:r>
              <a:rPr lang="ko-KR" altLang="en-US" sz="600" b="1" dirty="0"/>
              <a:t>기술검토 및 보고서 작성</a:t>
            </a:r>
          </a:p>
          <a:p>
            <a:r>
              <a:rPr lang="ko-KR" altLang="en-US" sz="600" dirty="0"/>
              <a:t>조사 결과</a:t>
            </a:r>
            <a:r>
              <a:rPr lang="en-US" altLang="ko-KR" sz="600" dirty="0"/>
              <a:t>, </a:t>
            </a:r>
            <a:r>
              <a:rPr lang="ko-KR" altLang="en-US" sz="600" dirty="0"/>
              <a:t>판단근거</a:t>
            </a:r>
            <a:r>
              <a:rPr lang="en-US" altLang="ko-KR" sz="600" dirty="0"/>
              <a:t>, </a:t>
            </a:r>
            <a:r>
              <a:rPr lang="ko-KR" altLang="en-US" sz="600" dirty="0"/>
              <a:t>산정내역</a:t>
            </a:r>
            <a:r>
              <a:rPr lang="en-US" altLang="ko-KR" sz="600" dirty="0"/>
              <a:t>, </a:t>
            </a:r>
            <a:r>
              <a:rPr lang="ko-KR" altLang="en-US" sz="600" dirty="0"/>
              <a:t>사진자료</a:t>
            </a:r>
            <a:r>
              <a:rPr lang="en-US" altLang="ko-KR" sz="600" dirty="0"/>
              <a:t>, </a:t>
            </a:r>
            <a:r>
              <a:rPr lang="ko-KR" altLang="en-US" sz="600" dirty="0"/>
              <a:t>도면자료 등을 종합하여 법원 또는 의뢰인이 이해할 수 있는 감정보고서 또는 기술검토서를 작성합니다</a:t>
            </a:r>
            <a:r>
              <a:rPr lang="en-US" altLang="ko-KR" sz="600" dirty="0"/>
              <a:t>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34C1FFB-A034-0203-B153-CABF63B2C0E2}"/>
              </a:ext>
            </a:extLst>
          </p:cNvPr>
          <p:cNvSpPr/>
          <p:nvPr/>
        </p:nvSpPr>
        <p:spPr>
          <a:xfrm>
            <a:off x="771255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원가계산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</p:spTree>
    <p:extLst>
      <p:ext uri="{BB962C8B-B14F-4D97-AF65-F5344CB8AC3E}">
        <p14:creationId xmlns:p14="http://schemas.microsoft.com/office/powerpoint/2010/main" val="1743089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6EBF-6B79-CD55-66F9-9AFBF15D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D11D07-273E-ACCD-729A-6AC4414AC547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E1420-5680-C4A8-ACBA-54A613075C98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사업분야</a:t>
            </a:r>
            <a:r>
              <a:rPr lang="en-US" altLang="ko-KR" sz="1200" b="1" dirty="0"/>
              <a:t> - </a:t>
            </a:r>
            <a:r>
              <a:rPr lang="ko-KR" altLang="en-US" sz="1200" b="1" dirty="0"/>
              <a:t>원가계산용역기관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F04B64-BFCA-981B-FA64-4640A4E78FEE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18A550E-3B0C-688F-41A9-AEC5984B3098}"/>
              </a:ext>
            </a:extLst>
          </p:cNvPr>
          <p:cNvSpPr/>
          <p:nvPr/>
        </p:nvSpPr>
        <p:spPr>
          <a:xfrm>
            <a:off x="562451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안전진단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A8AD32C-C40A-BF8C-6328-2B839FDD0FEC}"/>
              </a:ext>
            </a:extLst>
          </p:cNvPr>
          <p:cNvSpPr/>
          <p:nvPr/>
        </p:nvSpPr>
        <p:spPr>
          <a:xfrm>
            <a:off x="666853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법원감정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8E066DC-50AB-AE17-607D-16CFCB3EE851}"/>
              </a:ext>
            </a:extLst>
          </p:cNvPr>
          <p:cNvSpPr/>
          <p:nvPr/>
        </p:nvSpPr>
        <p:spPr>
          <a:xfrm>
            <a:off x="7712552" y="1158050"/>
            <a:ext cx="942976" cy="620559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원가계산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B72FBA4-C91B-448A-FF2E-3FE583D69790}"/>
              </a:ext>
            </a:extLst>
          </p:cNvPr>
          <p:cNvSpPr/>
          <p:nvPr/>
        </p:nvSpPr>
        <p:spPr>
          <a:xfrm>
            <a:off x="8756572" y="1158050"/>
            <a:ext cx="1182250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건축</a:t>
            </a:r>
            <a:r>
              <a:rPr lang="en-US" altLang="ko-KR" sz="1100" b="1" dirty="0">
                <a:solidFill>
                  <a:schemeClr val="tx1"/>
                </a:solidFill>
              </a:rPr>
              <a:t>·</a:t>
            </a:r>
            <a:r>
              <a:rPr lang="ko-KR" altLang="en-US" sz="1100" b="1" dirty="0">
                <a:solidFill>
                  <a:schemeClr val="tx1"/>
                </a:solidFill>
              </a:rPr>
              <a:t>토목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구조검토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해체계획서 작성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9029233-07C7-3FC3-0EBF-CBE9DE5DC11C}"/>
              </a:ext>
            </a:extLst>
          </p:cNvPr>
          <p:cNvSpPr/>
          <p:nvPr/>
        </p:nvSpPr>
        <p:spPr>
          <a:xfrm>
            <a:off x="10124325" y="1577150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사업분야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원가계산용역기관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0EF8D-170A-09DC-C62E-E373FD10E749}"/>
              </a:ext>
            </a:extLst>
          </p:cNvPr>
          <p:cNvSpPr txBox="1"/>
          <p:nvPr/>
        </p:nvSpPr>
        <p:spPr>
          <a:xfrm>
            <a:off x="285135" y="1824082"/>
            <a:ext cx="837039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/>
              <a:t>합리적인 계약금액 산정을 위한 객관적 원가분석을 수행합니다</a:t>
            </a:r>
            <a:r>
              <a:rPr lang="en-US" altLang="ko-KR" sz="600" b="1" dirty="0"/>
              <a:t>.</a:t>
            </a:r>
          </a:p>
          <a:p>
            <a:r>
              <a:rPr lang="ko-KR" altLang="en-US" sz="600" dirty="0"/>
              <a:t>원가계산용역기관으로서 공사</a:t>
            </a:r>
            <a:r>
              <a:rPr lang="en-US" altLang="ko-KR" sz="600" dirty="0"/>
              <a:t>, </a:t>
            </a:r>
            <a:r>
              <a:rPr lang="ko-KR" altLang="en-US" sz="600" dirty="0"/>
              <a:t>용역</a:t>
            </a:r>
            <a:r>
              <a:rPr lang="en-US" altLang="ko-KR" sz="600" dirty="0"/>
              <a:t>, </a:t>
            </a:r>
            <a:r>
              <a:rPr lang="ko-KR" altLang="en-US" sz="600" dirty="0"/>
              <a:t>물품</a:t>
            </a:r>
            <a:r>
              <a:rPr lang="en-US" altLang="ko-KR" sz="600" dirty="0"/>
              <a:t>, </a:t>
            </a:r>
            <a:r>
              <a:rPr lang="ko-KR" altLang="en-US" sz="600" dirty="0"/>
              <a:t>유지관리 업무 등에 필요한 원가계산 및 원가검토 업무를 수행합니다</a:t>
            </a:r>
            <a:r>
              <a:rPr lang="en-US" altLang="ko-KR" sz="600" dirty="0"/>
              <a:t>.</a:t>
            </a:r>
            <a:br>
              <a:rPr lang="en-US" altLang="ko-KR" sz="600" dirty="0"/>
            </a:br>
            <a:r>
              <a:rPr lang="ko-KR" altLang="en-US" sz="600" dirty="0"/>
              <a:t>계약목적물의 내용과 성질</a:t>
            </a:r>
            <a:r>
              <a:rPr lang="en-US" altLang="ko-KR" sz="600" dirty="0"/>
              <a:t>, </a:t>
            </a:r>
            <a:r>
              <a:rPr lang="ko-KR" altLang="en-US" sz="600" dirty="0"/>
              <a:t>설계도서</a:t>
            </a:r>
            <a:r>
              <a:rPr lang="en-US" altLang="ko-KR" sz="600" dirty="0"/>
              <a:t>, </a:t>
            </a:r>
            <a:r>
              <a:rPr lang="ko-KR" altLang="en-US" sz="600" dirty="0"/>
              <a:t>과업지시서</a:t>
            </a:r>
            <a:r>
              <a:rPr lang="en-US" altLang="ko-KR" sz="600" dirty="0"/>
              <a:t>, </a:t>
            </a:r>
            <a:r>
              <a:rPr lang="ko-KR" altLang="en-US" sz="600" dirty="0"/>
              <a:t>내역서</a:t>
            </a:r>
            <a:r>
              <a:rPr lang="en-US" altLang="ko-KR" sz="600" dirty="0"/>
              <a:t>, </a:t>
            </a:r>
            <a:r>
              <a:rPr lang="ko-KR" altLang="en-US" sz="600" dirty="0"/>
              <a:t>수량산출서</a:t>
            </a:r>
            <a:r>
              <a:rPr lang="en-US" altLang="ko-KR" sz="600" dirty="0"/>
              <a:t>, </a:t>
            </a:r>
            <a:r>
              <a:rPr lang="ko-KR" altLang="en-US" sz="600" dirty="0"/>
              <a:t>물가자료 등을 종합적으로 검토하여 예정가격 산정</a:t>
            </a:r>
            <a:r>
              <a:rPr lang="en-US" altLang="ko-KR" sz="600" dirty="0"/>
              <a:t>, </a:t>
            </a:r>
            <a:r>
              <a:rPr lang="ko-KR" altLang="en-US" sz="600" dirty="0"/>
              <a:t>계약금액 조정</a:t>
            </a:r>
            <a:r>
              <a:rPr lang="en-US" altLang="ko-KR" sz="600" dirty="0"/>
              <a:t>, </a:t>
            </a:r>
            <a:r>
              <a:rPr lang="ko-KR" altLang="en-US" sz="600" dirty="0"/>
              <a:t>사업비 검토</a:t>
            </a:r>
            <a:r>
              <a:rPr lang="en-US" altLang="ko-KR" sz="600" dirty="0"/>
              <a:t>, </a:t>
            </a:r>
            <a:r>
              <a:rPr lang="ko-KR" altLang="en-US" sz="600" dirty="0"/>
              <a:t>정산자료 작성에 필요한 객관적 원가자료를 제공합니다</a:t>
            </a:r>
            <a:r>
              <a:rPr lang="en-US" altLang="ko-KR" sz="600" dirty="0"/>
              <a:t>.</a:t>
            </a:r>
          </a:p>
          <a:p>
            <a:r>
              <a:rPr lang="ko-KR" altLang="en-US" sz="600" dirty="0"/>
              <a:t>「국가를 당사자로 하는 계약에 관한 법률 </a:t>
            </a:r>
            <a:r>
              <a:rPr lang="ko-KR" altLang="en-US" sz="600" dirty="0" err="1"/>
              <a:t>시행규칙」은</a:t>
            </a:r>
            <a:r>
              <a:rPr lang="ko-KR" altLang="en-US" sz="600" dirty="0"/>
              <a:t> 원가계산에 의한 가격으로 예정가격을 결정할 때 원가계산서를 작성하도록 하고</a:t>
            </a:r>
            <a:r>
              <a:rPr lang="en-US" altLang="ko-KR" sz="600" dirty="0"/>
              <a:t>, </a:t>
            </a:r>
            <a:r>
              <a:rPr lang="ko-KR" altLang="en-US" sz="600" dirty="0"/>
              <a:t>계약목적물의 내용</a:t>
            </a:r>
            <a:r>
              <a:rPr lang="en-US" altLang="ko-KR" sz="600" dirty="0"/>
              <a:t>·</a:t>
            </a:r>
            <a:r>
              <a:rPr lang="ko-KR" altLang="en-US" sz="600" dirty="0"/>
              <a:t>성질 등이 특수하여 계약담당공무원이 스스로 원가계산을 하기 곤란한 경우 원가계산용역기관에 원가계산을 의뢰할 수 있도록 정하고 있습니다</a:t>
            </a:r>
            <a:r>
              <a:rPr lang="en-US" altLang="ko-KR" sz="600" dirty="0"/>
              <a:t>. </a:t>
            </a:r>
            <a:br>
              <a:rPr lang="en-US" altLang="ko-KR" sz="600" dirty="0"/>
            </a:br>
            <a:r>
              <a:rPr lang="ko-KR" altLang="en-US" sz="600" dirty="0"/>
              <a:t>또한 지방계약에서도 지방자치단체의 장 또는 계약담당자가 직접 원가계산을 하기 곤란한 경우 행정안전부장관이 정한 요건을 갖춘 원가계산용역기관에 원가계산을 의뢰할 수 있습니다</a:t>
            </a:r>
            <a:r>
              <a:rPr lang="en-US" altLang="ko-KR" sz="600" dirty="0"/>
              <a:t>. </a:t>
            </a:r>
          </a:p>
          <a:p>
            <a:br>
              <a:rPr lang="en-US" altLang="ko-KR" sz="600" dirty="0"/>
            </a:br>
            <a:endParaRPr lang="en-US" altLang="ko-KR" sz="600" dirty="0"/>
          </a:p>
          <a:p>
            <a:r>
              <a:rPr lang="ko-KR" altLang="en-US" sz="600" b="1" dirty="0"/>
              <a:t>주요 업무</a:t>
            </a:r>
          </a:p>
          <a:p>
            <a:pPr>
              <a:buNone/>
            </a:pPr>
            <a:r>
              <a:rPr lang="ko-KR" altLang="en-US" sz="600" b="1" dirty="0"/>
              <a:t>공사원가계산</a:t>
            </a:r>
          </a:p>
          <a:p>
            <a:pPr>
              <a:buNone/>
            </a:pPr>
            <a:r>
              <a:rPr lang="ko-KR" altLang="en-US" sz="600" dirty="0"/>
              <a:t>건축</a:t>
            </a:r>
            <a:r>
              <a:rPr lang="en-US" altLang="ko-KR" sz="600" dirty="0"/>
              <a:t>·</a:t>
            </a:r>
            <a:r>
              <a:rPr lang="ko-KR" altLang="en-US" sz="600" dirty="0"/>
              <a:t>토목</a:t>
            </a:r>
            <a:r>
              <a:rPr lang="en-US" altLang="ko-KR" sz="600" dirty="0"/>
              <a:t>·</a:t>
            </a:r>
            <a:r>
              <a:rPr lang="ko-KR" altLang="en-US" sz="600" dirty="0"/>
              <a:t>기계</a:t>
            </a:r>
            <a:r>
              <a:rPr lang="en-US" altLang="ko-KR" sz="600" dirty="0"/>
              <a:t>·</a:t>
            </a:r>
            <a:r>
              <a:rPr lang="ko-KR" altLang="en-US" sz="600" dirty="0"/>
              <a:t>전기</a:t>
            </a:r>
            <a:r>
              <a:rPr lang="en-US" altLang="ko-KR" sz="600" dirty="0"/>
              <a:t>·</a:t>
            </a:r>
            <a:r>
              <a:rPr lang="ko-KR" altLang="en-US" sz="600" dirty="0"/>
              <a:t>설비공사 등의 설계도서</a:t>
            </a:r>
            <a:r>
              <a:rPr lang="en-US" altLang="ko-KR" sz="600" dirty="0"/>
              <a:t>, </a:t>
            </a:r>
            <a:r>
              <a:rPr lang="ko-KR" altLang="en-US" sz="600" dirty="0"/>
              <a:t>내역서</a:t>
            </a:r>
            <a:r>
              <a:rPr lang="en-US" altLang="ko-KR" sz="600" dirty="0"/>
              <a:t>, </a:t>
            </a:r>
            <a:r>
              <a:rPr lang="ko-KR" altLang="en-US" sz="600" dirty="0"/>
              <a:t>수량산출서</a:t>
            </a:r>
            <a:r>
              <a:rPr lang="en-US" altLang="ko-KR" sz="600" dirty="0"/>
              <a:t>, </a:t>
            </a:r>
            <a:r>
              <a:rPr lang="ko-KR" altLang="en-US" sz="600" dirty="0"/>
              <a:t>일위대가</a:t>
            </a:r>
            <a:r>
              <a:rPr lang="en-US" altLang="ko-KR" sz="600" dirty="0"/>
              <a:t>, </a:t>
            </a:r>
            <a:r>
              <a:rPr lang="ko-KR" altLang="en-US" sz="600" dirty="0" err="1"/>
              <a:t>표준품셈</a:t>
            </a:r>
            <a:r>
              <a:rPr lang="en-US" altLang="ko-KR" sz="600" dirty="0"/>
              <a:t>, </a:t>
            </a:r>
            <a:r>
              <a:rPr lang="ko-KR" altLang="en-US" sz="600" dirty="0"/>
              <a:t>물가자료 등을 검토하여 적정 공사비를 산정합니다</a:t>
            </a:r>
            <a:r>
              <a:rPr lang="en-US" altLang="ko-KR" sz="600" dirty="0"/>
              <a:t>.</a:t>
            </a:r>
          </a:p>
          <a:p>
            <a:pPr>
              <a:buNone/>
            </a:pPr>
            <a:r>
              <a:rPr lang="ko-KR" altLang="en-US" sz="600" b="1" dirty="0"/>
              <a:t>용역원가계산</a:t>
            </a:r>
          </a:p>
          <a:p>
            <a:pPr>
              <a:buNone/>
            </a:pPr>
            <a:r>
              <a:rPr lang="ko-KR" altLang="en-US" sz="600" dirty="0"/>
              <a:t>시설물 유지관리</a:t>
            </a:r>
            <a:r>
              <a:rPr lang="en-US" altLang="ko-KR" sz="600" dirty="0"/>
              <a:t>, </a:t>
            </a:r>
            <a:r>
              <a:rPr lang="ko-KR" altLang="en-US" sz="600" dirty="0"/>
              <a:t>안전점검</a:t>
            </a:r>
            <a:r>
              <a:rPr lang="en-US" altLang="ko-KR" sz="600" dirty="0"/>
              <a:t>, </a:t>
            </a:r>
            <a:r>
              <a:rPr lang="ko-KR" altLang="en-US" sz="600" dirty="0"/>
              <a:t>진단</a:t>
            </a:r>
            <a:r>
              <a:rPr lang="en-US" altLang="ko-KR" sz="600" dirty="0"/>
              <a:t>, </a:t>
            </a:r>
            <a:r>
              <a:rPr lang="ko-KR" altLang="en-US" sz="600" dirty="0"/>
              <a:t>조사</a:t>
            </a:r>
            <a:r>
              <a:rPr lang="en-US" altLang="ko-KR" sz="600" dirty="0"/>
              <a:t>, </a:t>
            </a:r>
            <a:r>
              <a:rPr lang="ko-KR" altLang="en-US" sz="600" dirty="0"/>
              <a:t>연구</a:t>
            </a:r>
            <a:r>
              <a:rPr lang="en-US" altLang="ko-KR" sz="600" dirty="0"/>
              <a:t>, </a:t>
            </a:r>
            <a:r>
              <a:rPr lang="ko-KR" altLang="en-US" sz="600" dirty="0"/>
              <a:t>엔지니어링 등 각종 용역 수행에 필요한 인건비</a:t>
            </a:r>
            <a:r>
              <a:rPr lang="en-US" altLang="ko-KR" sz="600" dirty="0"/>
              <a:t>, </a:t>
            </a:r>
            <a:r>
              <a:rPr lang="ko-KR" altLang="en-US" sz="600" dirty="0"/>
              <a:t>경비</a:t>
            </a:r>
            <a:r>
              <a:rPr lang="en-US" altLang="ko-KR" sz="600" dirty="0"/>
              <a:t>, </a:t>
            </a:r>
            <a:r>
              <a:rPr lang="ko-KR" altLang="en-US" sz="600" dirty="0"/>
              <a:t>일반관리비</a:t>
            </a:r>
            <a:r>
              <a:rPr lang="en-US" altLang="ko-KR" sz="600" dirty="0"/>
              <a:t>, </a:t>
            </a:r>
            <a:r>
              <a:rPr lang="ko-KR" altLang="en-US" sz="600" dirty="0"/>
              <a:t>이윤 등을 검토하여 적정 용역비를 산정합니다</a:t>
            </a:r>
            <a:r>
              <a:rPr lang="en-US" altLang="ko-KR" sz="600" dirty="0"/>
              <a:t>.</a:t>
            </a:r>
          </a:p>
          <a:p>
            <a:pPr>
              <a:buNone/>
            </a:pPr>
            <a:r>
              <a:rPr lang="ko-KR" altLang="en-US" sz="600" b="1" dirty="0"/>
              <a:t>제조원가계산</a:t>
            </a:r>
          </a:p>
          <a:p>
            <a:pPr>
              <a:buNone/>
            </a:pPr>
            <a:r>
              <a:rPr lang="ko-KR" altLang="en-US" sz="600" dirty="0"/>
              <a:t>물품 제작</a:t>
            </a:r>
            <a:r>
              <a:rPr lang="en-US" altLang="ko-KR" sz="600" dirty="0"/>
              <a:t>, </a:t>
            </a:r>
            <a:r>
              <a:rPr lang="ko-KR" altLang="en-US" sz="600" dirty="0"/>
              <a:t>장비 제작</a:t>
            </a:r>
            <a:r>
              <a:rPr lang="en-US" altLang="ko-KR" sz="600" dirty="0"/>
              <a:t>, </a:t>
            </a:r>
            <a:r>
              <a:rPr lang="ko-KR" altLang="en-US" sz="600" dirty="0"/>
              <a:t>수리</a:t>
            </a:r>
            <a:r>
              <a:rPr lang="en-US" altLang="ko-KR" sz="600" dirty="0"/>
              <a:t>, </a:t>
            </a:r>
            <a:r>
              <a:rPr lang="ko-KR" altLang="en-US" sz="600" dirty="0"/>
              <a:t>납품 등 </a:t>
            </a:r>
            <a:r>
              <a:rPr lang="ko-KR" altLang="en-US" sz="600" dirty="0" err="1"/>
              <a:t>제조성</a:t>
            </a:r>
            <a:r>
              <a:rPr lang="ko-KR" altLang="en-US" sz="600" dirty="0"/>
              <a:t> 계약에 필요한 재료비</a:t>
            </a:r>
            <a:r>
              <a:rPr lang="en-US" altLang="ko-KR" sz="600" dirty="0"/>
              <a:t>, </a:t>
            </a:r>
            <a:r>
              <a:rPr lang="ko-KR" altLang="en-US" sz="600" dirty="0"/>
              <a:t>노무비</a:t>
            </a:r>
            <a:r>
              <a:rPr lang="en-US" altLang="ko-KR" sz="600" dirty="0"/>
              <a:t>, </a:t>
            </a:r>
            <a:r>
              <a:rPr lang="ko-KR" altLang="en-US" sz="600" dirty="0"/>
              <a:t>경비 등을 분석하여 합리적인 제조원가를 산정합니다</a:t>
            </a:r>
            <a:r>
              <a:rPr lang="en-US" altLang="ko-KR" sz="600" dirty="0"/>
              <a:t>.</a:t>
            </a:r>
          </a:p>
          <a:p>
            <a:pPr>
              <a:buNone/>
            </a:pPr>
            <a:r>
              <a:rPr lang="ko-KR" altLang="en-US" sz="600" b="1" dirty="0"/>
              <a:t>예정가격 및 원가 적정성 검토</a:t>
            </a:r>
          </a:p>
          <a:p>
            <a:pPr>
              <a:buNone/>
            </a:pPr>
            <a:r>
              <a:rPr lang="ko-KR" altLang="en-US" sz="600" dirty="0"/>
              <a:t>공공기관</a:t>
            </a:r>
            <a:r>
              <a:rPr lang="en-US" altLang="ko-KR" sz="600" dirty="0"/>
              <a:t>, </a:t>
            </a:r>
            <a:r>
              <a:rPr lang="ko-KR" altLang="en-US" sz="600" dirty="0"/>
              <a:t>지방자치단체</a:t>
            </a:r>
            <a:r>
              <a:rPr lang="en-US" altLang="ko-KR" sz="600" dirty="0"/>
              <a:t>, </a:t>
            </a:r>
            <a:r>
              <a:rPr lang="ko-KR" altLang="en-US" sz="600" dirty="0"/>
              <a:t>민간 발주자가 계약 체결 전 활용할 수 있는 예정가격 산정자료를 작성하고</a:t>
            </a:r>
            <a:r>
              <a:rPr lang="en-US" altLang="ko-KR" sz="600" dirty="0"/>
              <a:t>, </a:t>
            </a:r>
            <a:r>
              <a:rPr lang="ko-KR" altLang="en-US" sz="600" dirty="0"/>
              <a:t>계약금액의 적정성을 검토합니다</a:t>
            </a:r>
            <a:r>
              <a:rPr lang="en-US" altLang="ko-KR" sz="600" dirty="0"/>
              <a:t>.</a:t>
            </a:r>
          </a:p>
          <a:p>
            <a:pPr>
              <a:buNone/>
            </a:pPr>
            <a:r>
              <a:rPr lang="ko-KR" altLang="en-US" sz="600" b="1" dirty="0"/>
              <a:t>설계변경 및 물가변동 검토</a:t>
            </a:r>
          </a:p>
          <a:p>
            <a:pPr>
              <a:buNone/>
            </a:pPr>
            <a:r>
              <a:rPr lang="ko-KR" altLang="en-US" sz="600" dirty="0"/>
              <a:t>설계변경</a:t>
            </a:r>
            <a:r>
              <a:rPr lang="en-US" altLang="ko-KR" sz="600" dirty="0"/>
              <a:t>, </a:t>
            </a:r>
            <a:r>
              <a:rPr lang="ko-KR" altLang="en-US" sz="600" dirty="0"/>
              <a:t>물량 증감</a:t>
            </a:r>
            <a:r>
              <a:rPr lang="en-US" altLang="ko-KR" sz="600" dirty="0"/>
              <a:t>, </a:t>
            </a:r>
            <a:r>
              <a:rPr lang="ko-KR" altLang="en-US" sz="600" dirty="0"/>
              <a:t>현장여건 변경 또는 물가변동이 발생한 경우 계약금액 조정 가능성과 조정금액의 적정성을 검토합니다</a:t>
            </a:r>
            <a:r>
              <a:rPr lang="en-US" altLang="ko-KR" sz="600" dirty="0"/>
              <a:t>.</a:t>
            </a:r>
          </a:p>
          <a:p>
            <a:pPr>
              <a:buNone/>
            </a:pPr>
            <a:r>
              <a:rPr lang="ko-KR" altLang="en-US" sz="600" b="1" dirty="0"/>
              <a:t>정산 및 사업비 검토</a:t>
            </a:r>
          </a:p>
          <a:p>
            <a:pPr>
              <a:buNone/>
            </a:pPr>
            <a:r>
              <a:rPr lang="ko-KR" altLang="en-US" sz="600" dirty="0"/>
              <a:t>사업 종료 후 실제 투입비용</a:t>
            </a:r>
            <a:r>
              <a:rPr lang="en-US" altLang="ko-KR" sz="600" dirty="0"/>
              <a:t>, </a:t>
            </a:r>
            <a:r>
              <a:rPr lang="ko-KR" altLang="en-US" sz="600" dirty="0"/>
              <a:t>계약내역</a:t>
            </a:r>
            <a:r>
              <a:rPr lang="en-US" altLang="ko-KR" sz="600" dirty="0"/>
              <a:t>, </a:t>
            </a:r>
            <a:r>
              <a:rPr lang="ko-KR" altLang="en-US" sz="600" dirty="0"/>
              <a:t>변경내역</a:t>
            </a:r>
            <a:r>
              <a:rPr lang="en-US" altLang="ko-KR" sz="600" dirty="0"/>
              <a:t>, </a:t>
            </a:r>
            <a:r>
              <a:rPr lang="ko-KR" altLang="en-US" sz="600" dirty="0"/>
              <a:t>증빙자료 등을 검토하여 정산금액과 사업비의 적정성을 확인합니다</a:t>
            </a:r>
            <a:r>
              <a:rPr lang="en-US" altLang="ko-KR" sz="600" dirty="0"/>
              <a:t>.</a:t>
            </a:r>
          </a:p>
          <a:p>
            <a:br>
              <a:rPr lang="en-US" altLang="ko-KR" sz="600" dirty="0"/>
            </a:br>
            <a:endParaRPr lang="en-US" altLang="ko-KR" sz="600" dirty="0"/>
          </a:p>
          <a:p>
            <a:r>
              <a:rPr lang="ko-KR" altLang="en-US" sz="600" b="1" dirty="0"/>
              <a:t>업무 대상</a:t>
            </a:r>
          </a:p>
          <a:p>
            <a:r>
              <a:rPr lang="ko-KR" altLang="en-US" sz="600" dirty="0"/>
              <a:t>각종 공사</a:t>
            </a:r>
            <a:r>
              <a:rPr lang="en-US" altLang="ko-KR" sz="600" dirty="0"/>
              <a:t>·</a:t>
            </a:r>
            <a:r>
              <a:rPr lang="ko-KR" altLang="en-US" sz="600" dirty="0"/>
              <a:t>용역</a:t>
            </a:r>
            <a:r>
              <a:rPr lang="en-US" altLang="ko-KR" sz="600" dirty="0"/>
              <a:t>·</a:t>
            </a:r>
            <a:r>
              <a:rPr lang="ko-KR" altLang="en-US" sz="600" dirty="0"/>
              <a:t>제조 원가계산</a:t>
            </a:r>
          </a:p>
          <a:p>
            <a:r>
              <a:rPr lang="ko-KR" altLang="en-US" sz="600" dirty="0"/>
              <a:t>안전점검</a:t>
            </a:r>
            <a:r>
              <a:rPr lang="en-US" altLang="ko-KR" sz="600" dirty="0"/>
              <a:t>, </a:t>
            </a:r>
            <a:r>
              <a:rPr lang="ko-KR" altLang="en-US" sz="600" dirty="0"/>
              <a:t>정밀안전진단</a:t>
            </a:r>
            <a:r>
              <a:rPr lang="en-US" altLang="ko-KR" sz="600" dirty="0"/>
              <a:t>, </a:t>
            </a:r>
            <a:r>
              <a:rPr lang="ko-KR" altLang="en-US" sz="600" dirty="0"/>
              <a:t>구조검토 등 기술용역 원가계산</a:t>
            </a:r>
          </a:p>
          <a:p>
            <a:r>
              <a:rPr lang="ko-KR" altLang="en-US" sz="600" dirty="0"/>
              <a:t>예정가격 산정 및 계약금액 조정 검토</a:t>
            </a:r>
          </a:p>
          <a:p>
            <a:r>
              <a:rPr lang="ko-KR" altLang="en-US" sz="600" dirty="0"/>
              <a:t>민간위탁비</a:t>
            </a:r>
            <a:r>
              <a:rPr lang="en-US" altLang="ko-KR" sz="600" dirty="0"/>
              <a:t>, </a:t>
            </a:r>
            <a:r>
              <a:rPr lang="ko-KR" altLang="en-US" sz="600" dirty="0"/>
              <a:t>시설관리비</a:t>
            </a:r>
            <a:r>
              <a:rPr lang="en-US" altLang="ko-KR" sz="600" dirty="0"/>
              <a:t>, </a:t>
            </a:r>
            <a:r>
              <a:rPr lang="ko-KR" altLang="en-US" sz="600" dirty="0"/>
              <a:t>유지보수비 등 사업비 산정</a:t>
            </a:r>
          </a:p>
          <a:p>
            <a:r>
              <a:rPr lang="ko-KR" altLang="en-US" sz="600" dirty="0"/>
              <a:t>공사비</a:t>
            </a:r>
            <a:r>
              <a:rPr lang="en-US" altLang="ko-KR" sz="600" dirty="0"/>
              <a:t>·</a:t>
            </a:r>
            <a:r>
              <a:rPr lang="ko-KR" altLang="en-US" sz="600" dirty="0"/>
              <a:t>용역비</a:t>
            </a:r>
            <a:r>
              <a:rPr lang="en-US" altLang="ko-KR" sz="600" dirty="0"/>
              <a:t>·</a:t>
            </a:r>
            <a:r>
              <a:rPr lang="ko-KR" altLang="en-US" sz="600" dirty="0"/>
              <a:t>정산금액 등 사업비 적정성 검토</a:t>
            </a:r>
          </a:p>
          <a:p>
            <a:br>
              <a:rPr lang="ko-KR" altLang="en-US" sz="600" dirty="0"/>
            </a:br>
            <a:endParaRPr lang="ko-KR" altLang="en-US" sz="600" dirty="0"/>
          </a:p>
          <a:p>
            <a:r>
              <a:rPr lang="ko-KR" altLang="en-US" sz="600" b="1" dirty="0"/>
              <a:t>수행 절차</a:t>
            </a:r>
          </a:p>
          <a:p>
            <a:r>
              <a:rPr lang="en-US" altLang="ko-KR" sz="600" b="1" dirty="0"/>
              <a:t>01. </a:t>
            </a:r>
            <a:r>
              <a:rPr lang="ko-KR" altLang="en-US" sz="600" b="1" dirty="0"/>
              <a:t>의뢰내용 및 계약자료 검토</a:t>
            </a:r>
          </a:p>
          <a:p>
            <a:r>
              <a:rPr lang="ko-KR" altLang="en-US" sz="600" dirty="0"/>
              <a:t>계약서</a:t>
            </a:r>
            <a:r>
              <a:rPr lang="en-US" altLang="ko-KR" sz="600" dirty="0"/>
              <a:t>, </a:t>
            </a:r>
            <a:r>
              <a:rPr lang="ko-KR" altLang="en-US" sz="600" dirty="0"/>
              <a:t>과업지시서</a:t>
            </a:r>
            <a:r>
              <a:rPr lang="en-US" altLang="ko-KR" sz="600" dirty="0"/>
              <a:t>, </a:t>
            </a:r>
            <a:r>
              <a:rPr lang="ko-KR" altLang="en-US" sz="600" dirty="0"/>
              <a:t>설계도서</a:t>
            </a:r>
            <a:r>
              <a:rPr lang="en-US" altLang="ko-KR" sz="600" dirty="0"/>
              <a:t>, </a:t>
            </a:r>
            <a:r>
              <a:rPr lang="ko-KR" altLang="en-US" sz="600" dirty="0"/>
              <a:t>내역서</a:t>
            </a:r>
            <a:r>
              <a:rPr lang="en-US" altLang="ko-KR" sz="600" dirty="0"/>
              <a:t>, </a:t>
            </a:r>
            <a:r>
              <a:rPr lang="ko-KR" altLang="en-US" sz="600" dirty="0"/>
              <a:t>수량산출서</a:t>
            </a:r>
            <a:r>
              <a:rPr lang="en-US" altLang="ko-KR" sz="600" dirty="0"/>
              <a:t>, </a:t>
            </a:r>
            <a:r>
              <a:rPr lang="ko-KR" altLang="en-US" sz="600" dirty="0"/>
              <a:t>시방서</a:t>
            </a:r>
            <a:r>
              <a:rPr lang="en-US" altLang="ko-KR" sz="600" dirty="0"/>
              <a:t>, </a:t>
            </a:r>
            <a:r>
              <a:rPr lang="ko-KR" altLang="en-US" sz="600" dirty="0"/>
              <a:t>견적서</a:t>
            </a:r>
            <a:r>
              <a:rPr lang="en-US" altLang="ko-KR" sz="600" dirty="0"/>
              <a:t>, </a:t>
            </a:r>
            <a:r>
              <a:rPr lang="ko-KR" altLang="en-US" sz="600" dirty="0"/>
              <a:t>변경내역 등 원가계산에 필요한 기초자료를 검토합니다</a:t>
            </a:r>
            <a:r>
              <a:rPr lang="en-US" altLang="ko-KR" sz="600" dirty="0"/>
              <a:t>.</a:t>
            </a:r>
          </a:p>
          <a:p>
            <a:r>
              <a:rPr lang="en-US" altLang="ko-KR" sz="600" b="1" dirty="0"/>
              <a:t>02. </a:t>
            </a:r>
            <a:r>
              <a:rPr lang="ko-KR" altLang="en-US" sz="600" b="1" dirty="0"/>
              <a:t>원가계산 기준 설정</a:t>
            </a:r>
          </a:p>
          <a:p>
            <a:r>
              <a:rPr lang="ko-KR" altLang="en-US" sz="600" dirty="0"/>
              <a:t>공사</a:t>
            </a:r>
            <a:r>
              <a:rPr lang="en-US" altLang="ko-KR" sz="600" dirty="0"/>
              <a:t>, </a:t>
            </a:r>
            <a:r>
              <a:rPr lang="ko-KR" altLang="en-US" sz="600" dirty="0"/>
              <a:t>용역</a:t>
            </a:r>
            <a:r>
              <a:rPr lang="en-US" altLang="ko-KR" sz="600" dirty="0"/>
              <a:t>, </a:t>
            </a:r>
            <a:r>
              <a:rPr lang="ko-KR" altLang="en-US" sz="600" dirty="0"/>
              <a:t>제조</a:t>
            </a:r>
            <a:r>
              <a:rPr lang="en-US" altLang="ko-KR" sz="600" dirty="0"/>
              <a:t>, </a:t>
            </a:r>
            <a:r>
              <a:rPr lang="ko-KR" altLang="en-US" sz="600" dirty="0"/>
              <a:t>유지관리 등 계약 유형을 구분하고 적용할 원가계산 기준</a:t>
            </a:r>
            <a:r>
              <a:rPr lang="en-US" altLang="ko-KR" sz="600" dirty="0"/>
              <a:t>, </a:t>
            </a:r>
            <a:r>
              <a:rPr lang="ko-KR" altLang="en-US" sz="600" dirty="0"/>
              <a:t>단가자료</a:t>
            </a:r>
            <a:r>
              <a:rPr lang="en-US" altLang="ko-KR" sz="600" dirty="0"/>
              <a:t>, </a:t>
            </a:r>
            <a:r>
              <a:rPr lang="ko-KR" altLang="en-US" sz="600" dirty="0"/>
              <a:t>노무비 기준</a:t>
            </a:r>
            <a:r>
              <a:rPr lang="en-US" altLang="ko-KR" sz="600" dirty="0"/>
              <a:t>, </a:t>
            </a:r>
            <a:r>
              <a:rPr lang="ko-KR" altLang="en-US" sz="600" dirty="0"/>
              <a:t>제경비율 등을 설정합니다</a:t>
            </a:r>
            <a:r>
              <a:rPr lang="en-US" altLang="ko-KR" sz="600" dirty="0"/>
              <a:t>.</a:t>
            </a:r>
          </a:p>
          <a:p>
            <a:r>
              <a:rPr lang="en-US" altLang="ko-KR" sz="600" b="1" dirty="0"/>
              <a:t>03. </a:t>
            </a:r>
            <a:r>
              <a:rPr lang="ko-KR" altLang="en-US" sz="600" b="1" dirty="0"/>
              <a:t>수량 및 단가 검토</a:t>
            </a:r>
          </a:p>
          <a:p>
            <a:r>
              <a:rPr lang="ko-KR" altLang="en-US" sz="600" dirty="0"/>
              <a:t>설계도서와 내역서를 기준으로 수량의 적정성을 확인하고</a:t>
            </a:r>
            <a:r>
              <a:rPr lang="en-US" altLang="ko-KR" sz="600" dirty="0"/>
              <a:t>, </a:t>
            </a:r>
            <a:r>
              <a:rPr lang="ko-KR" altLang="en-US" sz="600" dirty="0" err="1"/>
              <a:t>표준품셈</a:t>
            </a:r>
            <a:r>
              <a:rPr lang="en-US" altLang="ko-KR" sz="600" dirty="0"/>
              <a:t>, </a:t>
            </a:r>
            <a:r>
              <a:rPr lang="ko-KR" altLang="en-US" sz="600" dirty="0"/>
              <a:t>표준시장단가</a:t>
            </a:r>
            <a:r>
              <a:rPr lang="en-US" altLang="ko-KR" sz="600" dirty="0"/>
              <a:t>, </a:t>
            </a:r>
            <a:r>
              <a:rPr lang="ko-KR" altLang="en-US" sz="600" dirty="0"/>
              <a:t>물가자료</a:t>
            </a:r>
            <a:r>
              <a:rPr lang="en-US" altLang="ko-KR" sz="600" dirty="0"/>
              <a:t>, </a:t>
            </a:r>
            <a:r>
              <a:rPr lang="ko-KR" altLang="en-US" sz="600" dirty="0"/>
              <a:t>거래가격</a:t>
            </a:r>
            <a:r>
              <a:rPr lang="en-US" altLang="ko-KR" sz="600" dirty="0"/>
              <a:t>, </a:t>
            </a:r>
            <a:r>
              <a:rPr lang="ko-KR" altLang="en-US" sz="600" dirty="0"/>
              <a:t>노임단가 등을 활용하여 단가를 검토합니다</a:t>
            </a:r>
            <a:r>
              <a:rPr lang="en-US" altLang="ko-KR" sz="600" dirty="0"/>
              <a:t>.</a:t>
            </a:r>
          </a:p>
          <a:p>
            <a:r>
              <a:rPr lang="en-US" altLang="ko-KR" sz="600" b="1" dirty="0"/>
              <a:t>04. </a:t>
            </a:r>
            <a:r>
              <a:rPr lang="ko-KR" altLang="en-US" sz="600" b="1" dirty="0"/>
              <a:t>원가 산정</a:t>
            </a:r>
          </a:p>
          <a:p>
            <a:r>
              <a:rPr lang="ko-KR" altLang="en-US" sz="600" dirty="0"/>
              <a:t>재료비</a:t>
            </a:r>
            <a:r>
              <a:rPr lang="en-US" altLang="ko-KR" sz="600" dirty="0"/>
              <a:t>, </a:t>
            </a:r>
            <a:r>
              <a:rPr lang="ko-KR" altLang="en-US" sz="600" dirty="0"/>
              <a:t>노무비</a:t>
            </a:r>
            <a:r>
              <a:rPr lang="en-US" altLang="ko-KR" sz="600" dirty="0"/>
              <a:t>, </a:t>
            </a:r>
            <a:r>
              <a:rPr lang="ko-KR" altLang="en-US" sz="600" dirty="0"/>
              <a:t>경비</a:t>
            </a:r>
            <a:r>
              <a:rPr lang="en-US" altLang="ko-KR" sz="600" dirty="0"/>
              <a:t>, </a:t>
            </a:r>
            <a:r>
              <a:rPr lang="ko-KR" altLang="en-US" sz="600" dirty="0"/>
              <a:t>일반관리비</a:t>
            </a:r>
            <a:r>
              <a:rPr lang="en-US" altLang="ko-KR" sz="600" dirty="0"/>
              <a:t>, </a:t>
            </a:r>
            <a:r>
              <a:rPr lang="ko-KR" altLang="en-US" sz="600" dirty="0"/>
              <a:t>이윤 등 원가 구성항목을 산정하고</a:t>
            </a:r>
            <a:r>
              <a:rPr lang="en-US" altLang="ko-KR" sz="600" dirty="0"/>
              <a:t>, </a:t>
            </a:r>
            <a:r>
              <a:rPr lang="ko-KR" altLang="en-US" sz="600" dirty="0"/>
              <a:t>계약목적물의 성격에 맞는 원가계산서를 작성합니다</a:t>
            </a:r>
            <a:r>
              <a:rPr lang="en-US" altLang="ko-KR" sz="600" dirty="0"/>
              <a:t>. </a:t>
            </a:r>
            <a:r>
              <a:rPr lang="ko-KR" altLang="en-US" sz="600" dirty="0"/>
              <a:t>국가계약 기준에서도 원가계산에 의한 가격은 계약 목적이 되는 물품</a:t>
            </a:r>
            <a:r>
              <a:rPr lang="en-US" altLang="ko-KR" sz="600" dirty="0"/>
              <a:t>·</a:t>
            </a:r>
            <a:r>
              <a:rPr lang="ko-KR" altLang="en-US" sz="600" dirty="0"/>
              <a:t>공사</a:t>
            </a:r>
            <a:r>
              <a:rPr lang="en-US" altLang="ko-KR" sz="600" dirty="0"/>
              <a:t>·</a:t>
            </a:r>
            <a:r>
              <a:rPr lang="ko-KR" altLang="en-US" sz="600" dirty="0"/>
              <a:t>용역 등을 구성하는 재료비</a:t>
            </a:r>
            <a:r>
              <a:rPr lang="en-US" altLang="ko-KR" sz="600" dirty="0"/>
              <a:t>·</a:t>
            </a:r>
            <a:r>
              <a:rPr lang="ko-KR" altLang="en-US" sz="600" dirty="0"/>
              <a:t>노무비</a:t>
            </a:r>
            <a:r>
              <a:rPr lang="en-US" altLang="ko-KR" sz="600" dirty="0"/>
              <a:t>·</a:t>
            </a:r>
            <a:r>
              <a:rPr lang="ko-KR" altLang="en-US" sz="600" dirty="0"/>
              <a:t>경비와 일반관리비 및 이윤으로 계산한다고 설명됩니다</a:t>
            </a:r>
            <a:r>
              <a:rPr lang="en-US" altLang="ko-KR" sz="600" dirty="0"/>
              <a:t>. </a:t>
            </a:r>
          </a:p>
          <a:p>
            <a:r>
              <a:rPr lang="en-US" altLang="ko-KR" sz="600" b="1" dirty="0"/>
              <a:t>05. </a:t>
            </a:r>
            <a:r>
              <a:rPr lang="ko-KR" altLang="en-US" sz="600" b="1" dirty="0"/>
              <a:t>적정성 검토 및 보고서 작성</a:t>
            </a:r>
          </a:p>
          <a:p>
            <a:r>
              <a:rPr lang="ko-KR" altLang="en-US" sz="600" dirty="0"/>
              <a:t>산정 결과의 적정성을 검토하고</a:t>
            </a:r>
            <a:r>
              <a:rPr lang="en-US" altLang="ko-KR" sz="600" dirty="0"/>
              <a:t>, </a:t>
            </a:r>
            <a:r>
              <a:rPr lang="ko-KR" altLang="en-US" sz="600" dirty="0"/>
              <a:t>산출근거</a:t>
            </a:r>
            <a:r>
              <a:rPr lang="en-US" altLang="ko-KR" sz="600" dirty="0"/>
              <a:t>, </a:t>
            </a:r>
            <a:r>
              <a:rPr lang="ko-KR" altLang="en-US" sz="600" dirty="0"/>
              <a:t>적용기준</a:t>
            </a:r>
            <a:r>
              <a:rPr lang="en-US" altLang="ko-KR" sz="600" dirty="0"/>
              <a:t>, </a:t>
            </a:r>
            <a:r>
              <a:rPr lang="ko-KR" altLang="en-US" sz="600" dirty="0"/>
              <a:t>단가자료</a:t>
            </a:r>
            <a:r>
              <a:rPr lang="en-US" altLang="ko-KR" sz="600" dirty="0"/>
              <a:t>, </a:t>
            </a:r>
            <a:r>
              <a:rPr lang="ko-KR" altLang="en-US" sz="600" dirty="0"/>
              <a:t>계산내역을 포함한 원가계산 보고서를 작성합니다</a:t>
            </a:r>
            <a:r>
              <a:rPr lang="en-US" altLang="ko-KR" sz="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8221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CA64-65E4-167E-13F3-91376E303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87E416-B37B-3023-14C5-6D46501A65DD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CE0AA7-C22A-4CB1-DCCB-8AB64C16D48C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사업분야</a:t>
            </a:r>
            <a:r>
              <a:rPr lang="en-US" altLang="ko-KR" sz="1200" b="1" dirty="0"/>
              <a:t> - </a:t>
            </a:r>
            <a:r>
              <a:rPr lang="ko-KR" altLang="en-US" sz="1200" b="1" dirty="0"/>
              <a:t>건축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토목 구조검토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0A6A50-B4E8-C2D6-C685-8ED1DAB34C5A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0E7D135-53F9-0190-231D-5A229D78DF52}"/>
              </a:ext>
            </a:extLst>
          </p:cNvPr>
          <p:cNvSpPr/>
          <p:nvPr/>
        </p:nvSpPr>
        <p:spPr>
          <a:xfrm>
            <a:off x="562451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안전진단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5C54ACF-0FE6-C461-609A-C249EF8876D1}"/>
              </a:ext>
            </a:extLst>
          </p:cNvPr>
          <p:cNvSpPr/>
          <p:nvPr/>
        </p:nvSpPr>
        <p:spPr>
          <a:xfrm>
            <a:off x="666853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법원감정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320F407-F286-1DA8-7746-E5294B370258}"/>
              </a:ext>
            </a:extLst>
          </p:cNvPr>
          <p:cNvSpPr/>
          <p:nvPr/>
        </p:nvSpPr>
        <p:spPr>
          <a:xfrm>
            <a:off x="8756572" y="1158050"/>
            <a:ext cx="1182250" cy="620559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건축</a:t>
            </a:r>
            <a:r>
              <a:rPr lang="en-US" altLang="ko-KR" sz="1100" b="1" dirty="0">
                <a:solidFill>
                  <a:schemeClr val="tx1"/>
                </a:solidFill>
              </a:rPr>
              <a:t>·</a:t>
            </a:r>
            <a:r>
              <a:rPr lang="ko-KR" altLang="en-US" sz="1100" b="1" dirty="0">
                <a:solidFill>
                  <a:schemeClr val="tx1"/>
                </a:solidFill>
              </a:rPr>
              <a:t>토목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구조검토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해체계획서 작성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F77B420-1739-7094-9C05-F1FAEED83323}"/>
              </a:ext>
            </a:extLst>
          </p:cNvPr>
          <p:cNvSpPr/>
          <p:nvPr/>
        </p:nvSpPr>
        <p:spPr>
          <a:xfrm>
            <a:off x="10124325" y="1577150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사업분야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건축</a:t>
            </a:r>
            <a:r>
              <a:rPr lang="en-US" altLang="ko-KR" sz="800" b="1" dirty="0">
                <a:solidFill>
                  <a:schemeClr val="tx1"/>
                </a:solidFill>
              </a:rPr>
              <a:t>·</a:t>
            </a:r>
            <a:r>
              <a:rPr lang="ko-KR" altLang="en-US" sz="800" b="1" dirty="0">
                <a:solidFill>
                  <a:schemeClr val="tx1"/>
                </a:solidFill>
              </a:rPr>
              <a:t>토목</a:t>
            </a:r>
            <a:r>
              <a:rPr lang="en-US" altLang="ko-KR" sz="800" b="1" dirty="0">
                <a:solidFill>
                  <a:schemeClr val="tx1"/>
                </a:solidFill>
              </a:rPr>
              <a:t> </a:t>
            </a:r>
            <a:r>
              <a:rPr lang="ko-KR" altLang="en-US" sz="800" b="1" dirty="0">
                <a:solidFill>
                  <a:schemeClr val="tx1"/>
                </a:solidFill>
              </a:rPr>
              <a:t>구조검토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6E3F6-FD8C-0BEA-19A4-8E3DB5DCC4B1}"/>
              </a:ext>
            </a:extLst>
          </p:cNvPr>
          <p:cNvSpPr txBox="1"/>
          <p:nvPr/>
        </p:nvSpPr>
        <p:spPr>
          <a:xfrm>
            <a:off x="285135" y="1824082"/>
            <a:ext cx="837039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/>
              <a:t>구조적 안전성을 검토하고</a:t>
            </a:r>
            <a:r>
              <a:rPr lang="en-US" altLang="ko-KR" sz="700" b="1" dirty="0"/>
              <a:t>, </a:t>
            </a:r>
            <a:r>
              <a:rPr lang="ko-KR" altLang="en-US" sz="700" b="1" dirty="0"/>
              <a:t>안전한 공사 수행을 지원합니다</a:t>
            </a:r>
            <a:r>
              <a:rPr lang="en-US" altLang="ko-KR" sz="700" b="1" dirty="0"/>
              <a:t>.</a:t>
            </a:r>
          </a:p>
          <a:p>
            <a:r>
              <a:rPr lang="ko-KR" altLang="en-US" sz="700" dirty="0"/>
              <a:t>현구조엔지니어링은 건축</a:t>
            </a:r>
            <a:r>
              <a:rPr lang="en-US" altLang="ko-KR" sz="700" dirty="0"/>
              <a:t>·</a:t>
            </a:r>
            <a:r>
              <a:rPr lang="ko-KR" altLang="en-US" sz="700" dirty="0"/>
              <a:t>토목 구조검토 업무를 통해 건축물과 구조물의 안전성</a:t>
            </a:r>
            <a:r>
              <a:rPr lang="en-US" altLang="ko-KR" sz="700" dirty="0"/>
              <a:t>, </a:t>
            </a:r>
            <a:r>
              <a:rPr lang="ko-KR" altLang="en-US" sz="700" dirty="0"/>
              <a:t>사용성</a:t>
            </a:r>
            <a:r>
              <a:rPr lang="en-US" altLang="ko-KR" sz="700" dirty="0"/>
              <a:t>, </a:t>
            </a:r>
            <a:r>
              <a:rPr lang="ko-KR" altLang="en-US" sz="700" dirty="0"/>
              <a:t>시공 가능성을 종합적으로 검토합니다</a:t>
            </a:r>
            <a:r>
              <a:rPr lang="en-US" altLang="ko-KR" sz="700" dirty="0"/>
              <a:t>.</a:t>
            </a:r>
            <a:br>
              <a:rPr lang="en-US" altLang="ko-KR" sz="700" dirty="0"/>
            </a:br>
            <a:r>
              <a:rPr lang="ko-KR" altLang="en-US" sz="700" dirty="0"/>
              <a:t>설계도서</a:t>
            </a:r>
            <a:r>
              <a:rPr lang="en-US" altLang="ko-KR" sz="700" dirty="0"/>
              <a:t>, </a:t>
            </a:r>
            <a:r>
              <a:rPr lang="ko-KR" altLang="en-US" sz="700" dirty="0"/>
              <a:t>구조계산서</a:t>
            </a:r>
            <a:r>
              <a:rPr lang="en-US" altLang="ko-KR" sz="700" dirty="0"/>
              <a:t>, </a:t>
            </a:r>
            <a:r>
              <a:rPr lang="ko-KR" altLang="en-US" sz="700" dirty="0"/>
              <a:t>현장상태</a:t>
            </a:r>
            <a:r>
              <a:rPr lang="en-US" altLang="ko-KR" sz="700" dirty="0"/>
              <a:t>, </a:t>
            </a:r>
            <a:r>
              <a:rPr lang="ko-KR" altLang="en-US" sz="700" dirty="0"/>
              <a:t>하중조건</a:t>
            </a:r>
            <a:r>
              <a:rPr lang="en-US" altLang="ko-KR" sz="700" dirty="0"/>
              <a:t>, </a:t>
            </a:r>
            <a:r>
              <a:rPr lang="ko-KR" altLang="en-US" sz="700" dirty="0"/>
              <a:t>시공계획 등을 바탕으로 구조적 위험요인을 분석하고</a:t>
            </a:r>
            <a:r>
              <a:rPr lang="en-US" altLang="ko-KR" sz="700" dirty="0"/>
              <a:t>, </a:t>
            </a:r>
            <a:r>
              <a:rPr lang="ko-KR" altLang="en-US" sz="700" dirty="0"/>
              <a:t>공사 전</a:t>
            </a:r>
            <a:r>
              <a:rPr lang="en-US" altLang="ko-KR" sz="700" dirty="0"/>
              <a:t>·</a:t>
            </a:r>
            <a:r>
              <a:rPr lang="ko-KR" altLang="en-US" sz="700" dirty="0"/>
              <a:t>중</a:t>
            </a:r>
            <a:r>
              <a:rPr lang="en-US" altLang="ko-KR" sz="700" dirty="0"/>
              <a:t>·</a:t>
            </a:r>
            <a:r>
              <a:rPr lang="ko-KR" altLang="en-US" sz="700" dirty="0"/>
              <a:t>후 단계에서 필요한 기술검토 자료를 제공합니다</a:t>
            </a:r>
            <a:r>
              <a:rPr lang="en-US" altLang="ko-KR" sz="700" dirty="0"/>
              <a:t>.</a:t>
            </a:r>
          </a:p>
          <a:p>
            <a:r>
              <a:rPr lang="ko-KR" altLang="en-US" sz="700" dirty="0"/>
              <a:t>특히 해체공사</a:t>
            </a:r>
            <a:r>
              <a:rPr lang="en-US" altLang="ko-KR" sz="700" dirty="0"/>
              <a:t>, </a:t>
            </a:r>
            <a:r>
              <a:rPr lang="ko-KR" altLang="en-US" sz="700" dirty="0"/>
              <a:t>증축</a:t>
            </a:r>
            <a:r>
              <a:rPr lang="en-US" altLang="ko-KR" sz="700" dirty="0"/>
              <a:t>, </a:t>
            </a:r>
            <a:r>
              <a:rPr lang="ko-KR" altLang="en-US" sz="700" dirty="0"/>
              <a:t>대수선</a:t>
            </a:r>
            <a:r>
              <a:rPr lang="en-US" altLang="ko-KR" sz="700" dirty="0"/>
              <a:t>, </a:t>
            </a:r>
            <a:r>
              <a:rPr lang="ko-KR" altLang="en-US" sz="700" dirty="0"/>
              <a:t>용도변경</a:t>
            </a:r>
            <a:r>
              <a:rPr lang="en-US" altLang="ko-KR" sz="700" dirty="0"/>
              <a:t>, </a:t>
            </a:r>
            <a:r>
              <a:rPr lang="ko-KR" altLang="en-US" sz="700" dirty="0"/>
              <a:t>리모델링</a:t>
            </a:r>
            <a:r>
              <a:rPr lang="en-US" altLang="ko-KR" sz="700" dirty="0"/>
              <a:t>, </a:t>
            </a:r>
            <a:r>
              <a:rPr lang="ko-KR" altLang="en-US" sz="700" dirty="0"/>
              <a:t>가시설 설치 등 구조안전성 검토가 필요한 사안에 대하여 실무적인 검토의견과 보고서를 작성합니다</a:t>
            </a:r>
            <a:r>
              <a:rPr lang="en-US" altLang="ko-KR" sz="700" dirty="0"/>
              <a:t>.</a:t>
            </a:r>
          </a:p>
          <a:p>
            <a:endParaRPr lang="en-US" altLang="ko-KR" sz="700" dirty="0"/>
          </a:p>
          <a:p>
            <a:r>
              <a:rPr lang="ko-KR" altLang="en-US" sz="700" b="1" dirty="0"/>
              <a:t>주요 업무</a:t>
            </a:r>
          </a:p>
          <a:p>
            <a:r>
              <a:rPr lang="ko-KR" altLang="en-US" sz="700" b="1" dirty="0"/>
              <a:t>건축 구조검토</a:t>
            </a:r>
          </a:p>
          <a:p>
            <a:r>
              <a:rPr lang="ko-KR" altLang="en-US" sz="700" dirty="0"/>
              <a:t>건축물의 기둥</a:t>
            </a:r>
            <a:r>
              <a:rPr lang="en-US" altLang="ko-KR" sz="700" dirty="0"/>
              <a:t>, </a:t>
            </a:r>
            <a:r>
              <a:rPr lang="ko-KR" altLang="en-US" sz="700" dirty="0"/>
              <a:t>보</a:t>
            </a:r>
            <a:r>
              <a:rPr lang="en-US" altLang="ko-KR" sz="700" dirty="0"/>
              <a:t>, </a:t>
            </a:r>
            <a:r>
              <a:rPr lang="ko-KR" altLang="en-US" sz="700" dirty="0" err="1"/>
              <a:t>슬래브</a:t>
            </a:r>
            <a:r>
              <a:rPr lang="en-US" altLang="ko-KR" sz="700" dirty="0"/>
              <a:t>, </a:t>
            </a:r>
            <a:r>
              <a:rPr lang="ko-KR" altLang="en-US" sz="700" dirty="0"/>
              <a:t>벽체</a:t>
            </a:r>
            <a:r>
              <a:rPr lang="en-US" altLang="ko-KR" sz="700" dirty="0"/>
              <a:t>, </a:t>
            </a:r>
            <a:r>
              <a:rPr lang="ko-KR" altLang="en-US" sz="700" dirty="0"/>
              <a:t>기초 등 주요 구조부의 안전성을 검토하고</a:t>
            </a:r>
            <a:r>
              <a:rPr lang="en-US" altLang="ko-KR" sz="700" dirty="0"/>
              <a:t>, </a:t>
            </a:r>
            <a:r>
              <a:rPr lang="ko-KR" altLang="en-US" sz="700" dirty="0"/>
              <a:t>증축</a:t>
            </a:r>
            <a:r>
              <a:rPr lang="en-US" altLang="ko-KR" sz="700" dirty="0"/>
              <a:t>·</a:t>
            </a:r>
            <a:r>
              <a:rPr lang="ko-KR" altLang="en-US" sz="700" dirty="0"/>
              <a:t>대수선</a:t>
            </a:r>
            <a:r>
              <a:rPr lang="en-US" altLang="ko-KR" sz="700" dirty="0"/>
              <a:t>·</a:t>
            </a:r>
            <a:r>
              <a:rPr lang="ko-KR" altLang="en-US" sz="700" dirty="0"/>
              <a:t>용도변경 등에 따른 구조적 영향을 분석합니다</a:t>
            </a:r>
            <a:r>
              <a:rPr lang="en-US" altLang="ko-KR" sz="700" dirty="0"/>
              <a:t>.</a:t>
            </a:r>
          </a:p>
          <a:p>
            <a:r>
              <a:rPr lang="ko-KR" altLang="en-US" sz="700" b="1" dirty="0"/>
              <a:t>토목 구조검토</a:t>
            </a:r>
          </a:p>
          <a:p>
            <a:r>
              <a:rPr lang="ko-KR" altLang="en-US" sz="700" dirty="0"/>
              <a:t>옹벽</a:t>
            </a:r>
            <a:r>
              <a:rPr lang="en-US" altLang="ko-KR" sz="700" dirty="0"/>
              <a:t>, </a:t>
            </a:r>
            <a:r>
              <a:rPr lang="ko-KR" altLang="en-US" sz="700" dirty="0" err="1"/>
              <a:t>석축</a:t>
            </a:r>
            <a:r>
              <a:rPr lang="en-US" altLang="ko-KR" sz="700" dirty="0"/>
              <a:t>, </a:t>
            </a:r>
            <a:r>
              <a:rPr lang="ko-KR" altLang="en-US" sz="700" dirty="0"/>
              <a:t>기초</a:t>
            </a:r>
            <a:r>
              <a:rPr lang="en-US" altLang="ko-KR" sz="700" dirty="0"/>
              <a:t>, </a:t>
            </a:r>
            <a:r>
              <a:rPr lang="ko-KR" altLang="en-US" sz="700" dirty="0"/>
              <a:t>지하구조물</a:t>
            </a:r>
            <a:r>
              <a:rPr lang="en-US" altLang="ko-KR" sz="700" dirty="0"/>
              <a:t>, </a:t>
            </a:r>
            <a:r>
              <a:rPr lang="ko-KR" altLang="en-US" sz="700" dirty="0"/>
              <a:t>배수시설</a:t>
            </a:r>
            <a:r>
              <a:rPr lang="en-US" altLang="ko-KR" sz="700" dirty="0"/>
              <a:t>, </a:t>
            </a:r>
            <a:r>
              <a:rPr lang="ko-KR" altLang="en-US" sz="700" dirty="0"/>
              <a:t>포장 등 토목 관련 구조물의 안전성과 시공 적정성을 검토합니다</a:t>
            </a:r>
            <a:r>
              <a:rPr lang="en-US" altLang="ko-KR" sz="700" dirty="0"/>
              <a:t>.</a:t>
            </a:r>
          </a:p>
          <a:p>
            <a:r>
              <a:rPr lang="ko-KR" altLang="en-US" sz="700" b="1" dirty="0"/>
              <a:t>해체계획서 작성 및 검토</a:t>
            </a:r>
          </a:p>
          <a:p>
            <a:r>
              <a:rPr lang="ko-KR" altLang="en-US" sz="700" dirty="0"/>
              <a:t>해체 대상 건축물의 구조형식</a:t>
            </a:r>
            <a:r>
              <a:rPr lang="en-US" altLang="ko-KR" sz="700" dirty="0"/>
              <a:t>, </a:t>
            </a:r>
            <a:r>
              <a:rPr lang="ko-KR" altLang="en-US" sz="700" dirty="0"/>
              <a:t>해체공법</a:t>
            </a:r>
            <a:r>
              <a:rPr lang="en-US" altLang="ko-KR" sz="700" dirty="0"/>
              <a:t>, </a:t>
            </a:r>
            <a:r>
              <a:rPr lang="ko-KR" altLang="en-US" sz="700" dirty="0"/>
              <a:t>작업순서</a:t>
            </a:r>
            <a:r>
              <a:rPr lang="en-US" altLang="ko-KR" sz="700" dirty="0"/>
              <a:t>, </a:t>
            </a:r>
            <a:r>
              <a:rPr lang="ko-KR" altLang="en-US" sz="700" dirty="0"/>
              <a:t>장비운용</a:t>
            </a:r>
            <a:r>
              <a:rPr lang="en-US" altLang="ko-KR" sz="700" dirty="0"/>
              <a:t>, </a:t>
            </a:r>
            <a:r>
              <a:rPr lang="ko-KR" altLang="en-US" sz="700" dirty="0"/>
              <a:t>안전관리계획 등을 검토하여 해체계획서 작성 및 구조안전성 검토를 지원합니다</a:t>
            </a:r>
            <a:r>
              <a:rPr lang="en-US" altLang="ko-KR" sz="700" dirty="0"/>
              <a:t>.</a:t>
            </a:r>
          </a:p>
          <a:p>
            <a:r>
              <a:rPr lang="ko-KR" altLang="en-US" sz="700" b="1" dirty="0"/>
              <a:t>가시설 및 시공 중 구조검토</a:t>
            </a:r>
          </a:p>
          <a:p>
            <a:r>
              <a:rPr lang="ko-KR" altLang="en-US" sz="700" dirty="0" err="1"/>
              <a:t>흙막이</a:t>
            </a:r>
            <a:r>
              <a:rPr lang="en-US" altLang="ko-KR" sz="700" dirty="0"/>
              <a:t>, </a:t>
            </a:r>
            <a:r>
              <a:rPr lang="ko-KR" altLang="en-US" sz="700" dirty="0" err="1"/>
              <a:t>동바리</a:t>
            </a:r>
            <a:r>
              <a:rPr lang="en-US" altLang="ko-KR" sz="700" dirty="0"/>
              <a:t>, </a:t>
            </a:r>
            <a:r>
              <a:rPr lang="ko-KR" altLang="en-US" sz="700" dirty="0"/>
              <a:t>비계</a:t>
            </a:r>
            <a:r>
              <a:rPr lang="en-US" altLang="ko-KR" sz="700" dirty="0"/>
              <a:t>, </a:t>
            </a:r>
            <a:r>
              <a:rPr lang="ko-KR" altLang="en-US" sz="700" dirty="0"/>
              <a:t>가설구조물 등 공사 중 임시 구조물의 안전성을 검토하고</a:t>
            </a:r>
            <a:r>
              <a:rPr lang="en-US" altLang="ko-KR" sz="700" dirty="0"/>
              <a:t>, </a:t>
            </a:r>
            <a:r>
              <a:rPr lang="ko-KR" altLang="en-US" sz="700" dirty="0"/>
              <a:t>시공 중 발생할 수 있는 구조적 위험요인을 확인합니다</a:t>
            </a:r>
            <a:r>
              <a:rPr lang="en-US" altLang="ko-KR" sz="700" dirty="0"/>
              <a:t>.</a:t>
            </a:r>
          </a:p>
          <a:p>
            <a:r>
              <a:rPr lang="ko-KR" altLang="en-US" sz="700" b="1" dirty="0"/>
              <a:t>구조안전성 검토보고서 작성</a:t>
            </a:r>
          </a:p>
          <a:p>
            <a:r>
              <a:rPr lang="ko-KR" altLang="en-US" sz="700" dirty="0"/>
              <a:t>현장조사</a:t>
            </a:r>
            <a:r>
              <a:rPr lang="en-US" altLang="ko-KR" sz="700" dirty="0"/>
              <a:t>, </a:t>
            </a:r>
            <a:r>
              <a:rPr lang="ko-KR" altLang="en-US" sz="700" dirty="0"/>
              <a:t>도면검토</a:t>
            </a:r>
            <a:r>
              <a:rPr lang="en-US" altLang="ko-KR" sz="700" dirty="0"/>
              <a:t>, </a:t>
            </a:r>
            <a:r>
              <a:rPr lang="ko-KR" altLang="en-US" sz="700" dirty="0"/>
              <a:t>구조계산</a:t>
            </a:r>
            <a:r>
              <a:rPr lang="en-US" altLang="ko-KR" sz="700" dirty="0"/>
              <a:t>, </a:t>
            </a:r>
            <a:r>
              <a:rPr lang="ko-KR" altLang="en-US" sz="700" dirty="0"/>
              <a:t>하중검토 결과를 종합하여 인허가</a:t>
            </a:r>
            <a:r>
              <a:rPr lang="en-US" altLang="ko-KR" sz="700" dirty="0"/>
              <a:t>, </a:t>
            </a:r>
            <a:r>
              <a:rPr lang="ko-KR" altLang="en-US" sz="700" dirty="0"/>
              <a:t>공사관리</a:t>
            </a:r>
            <a:r>
              <a:rPr lang="en-US" altLang="ko-KR" sz="700" dirty="0"/>
              <a:t>, </a:t>
            </a:r>
            <a:r>
              <a:rPr lang="ko-KR" altLang="en-US" sz="700" dirty="0"/>
              <a:t>분쟁 대응 등에 활용 가능한 구조검토 보고서를 작성합니다</a:t>
            </a:r>
            <a:r>
              <a:rPr lang="en-US" altLang="ko-KR" sz="700" dirty="0"/>
              <a:t>.</a:t>
            </a:r>
          </a:p>
          <a:p>
            <a:endParaRPr lang="en-US" altLang="ko-KR" sz="700" dirty="0"/>
          </a:p>
          <a:p>
            <a:r>
              <a:rPr lang="ko-KR" altLang="en-US" sz="700" b="1" dirty="0"/>
              <a:t>업무 대상</a:t>
            </a:r>
          </a:p>
          <a:p>
            <a:r>
              <a:rPr lang="ko-KR" altLang="en-US" sz="700" dirty="0"/>
              <a:t>신축</a:t>
            </a:r>
            <a:r>
              <a:rPr lang="en-US" altLang="ko-KR" sz="700" dirty="0"/>
              <a:t>, </a:t>
            </a:r>
            <a:r>
              <a:rPr lang="ko-KR" altLang="en-US" sz="700" dirty="0"/>
              <a:t>증축</a:t>
            </a:r>
            <a:r>
              <a:rPr lang="en-US" altLang="ko-KR" sz="700" dirty="0"/>
              <a:t>, </a:t>
            </a:r>
            <a:r>
              <a:rPr lang="ko-KR" altLang="en-US" sz="700" dirty="0"/>
              <a:t>대수선</a:t>
            </a:r>
            <a:r>
              <a:rPr lang="en-US" altLang="ko-KR" sz="700" dirty="0"/>
              <a:t>, </a:t>
            </a:r>
            <a:r>
              <a:rPr lang="ko-KR" altLang="en-US" sz="700" dirty="0"/>
              <a:t>리모델링</a:t>
            </a:r>
            <a:r>
              <a:rPr lang="en-US" altLang="ko-KR" sz="700" dirty="0"/>
              <a:t>, </a:t>
            </a:r>
            <a:r>
              <a:rPr lang="ko-KR" altLang="en-US" sz="700" dirty="0"/>
              <a:t>용도변경 건축물</a:t>
            </a:r>
          </a:p>
          <a:p>
            <a:r>
              <a:rPr lang="ko-KR" altLang="en-US" sz="700" dirty="0"/>
              <a:t>해체공사 대상 건축물</a:t>
            </a:r>
          </a:p>
          <a:p>
            <a:r>
              <a:rPr lang="ko-KR" altLang="en-US" sz="700" dirty="0" err="1"/>
              <a:t>구조부</a:t>
            </a:r>
            <a:r>
              <a:rPr lang="ko-KR" altLang="en-US" sz="700" dirty="0"/>
              <a:t> 변경 또는 하중 증가가 예상되는 건축물</a:t>
            </a:r>
          </a:p>
          <a:p>
            <a:r>
              <a:rPr lang="ko-KR" altLang="en-US" sz="700" dirty="0"/>
              <a:t>옹벽</a:t>
            </a:r>
            <a:r>
              <a:rPr lang="en-US" altLang="ko-KR" sz="700" dirty="0"/>
              <a:t>, </a:t>
            </a:r>
            <a:r>
              <a:rPr lang="ko-KR" altLang="en-US" sz="700" dirty="0" err="1"/>
              <a:t>석축</a:t>
            </a:r>
            <a:r>
              <a:rPr lang="en-US" altLang="ko-KR" sz="700" dirty="0"/>
              <a:t>, </a:t>
            </a:r>
            <a:r>
              <a:rPr lang="ko-KR" altLang="en-US" sz="700" dirty="0"/>
              <a:t>기초</a:t>
            </a:r>
            <a:r>
              <a:rPr lang="en-US" altLang="ko-KR" sz="700" dirty="0"/>
              <a:t>, </a:t>
            </a:r>
            <a:r>
              <a:rPr lang="ko-KR" altLang="en-US" sz="700" dirty="0"/>
              <a:t>지하구조물 등 토목 구조물</a:t>
            </a:r>
          </a:p>
          <a:p>
            <a:r>
              <a:rPr lang="ko-KR" altLang="en-US" sz="700" dirty="0" err="1"/>
              <a:t>흙막이</a:t>
            </a:r>
            <a:r>
              <a:rPr lang="en-US" altLang="ko-KR" sz="700" dirty="0"/>
              <a:t>, </a:t>
            </a:r>
            <a:r>
              <a:rPr lang="ko-KR" altLang="en-US" sz="700" dirty="0" err="1"/>
              <a:t>동바리</a:t>
            </a:r>
            <a:r>
              <a:rPr lang="en-US" altLang="ko-KR" sz="700" dirty="0"/>
              <a:t>, </a:t>
            </a:r>
            <a:r>
              <a:rPr lang="ko-KR" altLang="en-US" sz="700" dirty="0"/>
              <a:t>비계 등 가설구조물</a:t>
            </a:r>
          </a:p>
          <a:p>
            <a:r>
              <a:rPr lang="ko-KR" altLang="en-US" sz="700" dirty="0"/>
              <a:t>공사 중 구조안전성 확인이 필요한 현장</a:t>
            </a:r>
          </a:p>
          <a:p>
            <a:r>
              <a:rPr lang="ko-KR" altLang="en-US" sz="700" dirty="0"/>
              <a:t>인허가</a:t>
            </a:r>
            <a:r>
              <a:rPr lang="en-US" altLang="ko-KR" sz="700" dirty="0"/>
              <a:t>, </a:t>
            </a:r>
            <a:r>
              <a:rPr lang="ko-KR" altLang="en-US" sz="700" dirty="0"/>
              <a:t>감리</a:t>
            </a:r>
            <a:r>
              <a:rPr lang="en-US" altLang="ko-KR" sz="700" dirty="0"/>
              <a:t>, </a:t>
            </a:r>
            <a:r>
              <a:rPr lang="ko-KR" altLang="en-US" sz="700" dirty="0"/>
              <a:t>법원감정</a:t>
            </a:r>
            <a:r>
              <a:rPr lang="en-US" altLang="ko-KR" sz="700" dirty="0"/>
              <a:t>, </a:t>
            </a:r>
            <a:r>
              <a:rPr lang="ko-KR" altLang="en-US" sz="700" dirty="0"/>
              <a:t>안전진단과 연계된 구조검토 대상</a:t>
            </a:r>
            <a:endParaRPr lang="en-US" altLang="ko-KR" sz="700" dirty="0"/>
          </a:p>
          <a:p>
            <a:endParaRPr lang="ko-KR" altLang="en-US" sz="700" dirty="0"/>
          </a:p>
          <a:p>
            <a:r>
              <a:rPr lang="ko-KR" altLang="en-US" sz="700" b="1" dirty="0"/>
              <a:t>수행 절차</a:t>
            </a:r>
          </a:p>
          <a:p>
            <a:r>
              <a:rPr lang="en-US" altLang="ko-KR" sz="700" b="1" dirty="0"/>
              <a:t>01. </a:t>
            </a:r>
            <a:r>
              <a:rPr lang="ko-KR" altLang="en-US" sz="700" b="1" dirty="0"/>
              <a:t>자료 검토</a:t>
            </a:r>
          </a:p>
          <a:p>
            <a:r>
              <a:rPr lang="ko-KR" altLang="en-US" sz="700" dirty="0"/>
              <a:t>설계도서</a:t>
            </a:r>
            <a:r>
              <a:rPr lang="en-US" altLang="ko-KR" sz="700" dirty="0"/>
              <a:t>, </a:t>
            </a:r>
            <a:r>
              <a:rPr lang="ko-KR" altLang="en-US" sz="700" dirty="0"/>
              <a:t>구조계산서</a:t>
            </a:r>
            <a:r>
              <a:rPr lang="en-US" altLang="ko-KR" sz="700" dirty="0"/>
              <a:t>, </a:t>
            </a:r>
            <a:r>
              <a:rPr lang="ko-KR" altLang="en-US" sz="700" dirty="0"/>
              <a:t>현장사진</a:t>
            </a:r>
            <a:r>
              <a:rPr lang="en-US" altLang="ko-KR" sz="700" dirty="0"/>
              <a:t>, </a:t>
            </a:r>
            <a:r>
              <a:rPr lang="ko-KR" altLang="en-US" sz="700" dirty="0"/>
              <a:t>시공계획서</a:t>
            </a:r>
            <a:r>
              <a:rPr lang="en-US" altLang="ko-KR" sz="700" dirty="0"/>
              <a:t>, </a:t>
            </a:r>
            <a:r>
              <a:rPr lang="ko-KR" altLang="en-US" sz="700" dirty="0"/>
              <a:t>해체계획 관련 자료 등을 검토합니다</a:t>
            </a:r>
            <a:r>
              <a:rPr lang="en-US" altLang="ko-KR" sz="700" dirty="0"/>
              <a:t>.</a:t>
            </a:r>
          </a:p>
          <a:p>
            <a:r>
              <a:rPr lang="en-US" altLang="ko-KR" sz="700" b="1" dirty="0"/>
              <a:t>02. </a:t>
            </a:r>
            <a:r>
              <a:rPr lang="ko-KR" altLang="en-US" sz="700" b="1" dirty="0"/>
              <a:t>현장 확인</a:t>
            </a:r>
          </a:p>
          <a:p>
            <a:r>
              <a:rPr lang="ko-KR" altLang="en-US" sz="700" dirty="0"/>
              <a:t>필요 시 현장을 방문하여 구조물 상태</a:t>
            </a:r>
            <a:r>
              <a:rPr lang="en-US" altLang="ko-KR" sz="700" dirty="0"/>
              <a:t>, </a:t>
            </a:r>
            <a:r>
              <a:rPr lang="ko-KR" altLang="en-US" sz="700" dirty="0"/>
              <a:t>주변 여건</a:t>
            </a:r>
            <a:r>
              <a:rPr lang="en-US" altLang="ko-KR" sz="700" dirty="0"/>
              <a:t>, </a:t>
            </a:r>
            <a:r>
              <a:rPr lang="ko-KR" altLang="en-US" sz="700" dirty="0"/>
              <a:t>균열</a:t>
            </a:r>
            <a:r>
              <a:rPr lang="en-US" altLang="ko-KR" sz="700" dirty="0"/>
              <a:t>·</a:t>
            </a:r>
            <a:r>
              <a:rPr lang="ko-KR" altLang="en-US" sz="700" dirty="0"/>
              <a:t>변형</a:t>
            </a:r>
            <a:r>
              <a:rPr lang="en-US" altLang="ko-KR" sz="700" dirty="0"/>
              <a:t>·</a:t>
            </a:r>
            <a:r>
              <a:rPr lang="ko-KR" altLang="en-US" sz="700" dirty="0"/>
              <a:t>손상 여부를 확인합니다</a:t>
            </a:r>
            <a:r>
              <a:rPr lang="en-US" altLang="ko-KR" sz="700" dirty="0"/>
              <a:t>.</a:t>
            </a:r>
          </a:p>
          <a:p>
            <a:r>
              <a:rPr lang="en-US" altLang="ko-KR" sz="700" b="1" dirty="0"/>
              <a:t>03. </a:t>
            </a:r>
            <a:r>
              <a:rPr lang="ko-KR" altLang="en-US" sz="700" b="1" dirty="0"/>
              <a:t>구조안전성 검토</a:t>
            </a:r>
          </a:p>
          <a:p>
            <a:r>
              <a:rPr lang="ko-KR" altLang="en-US" sz="700" dirty="0"/>
              <a:t>하중조건</a:t>
            </a:r>
            <a:r>
              <a:rPr lang="en-US" altLang="ko-KR" sz="700" dirty="0"/>
              <a:t>, </a:t>
            </a:r>
            <a:r>
              <a:rPr lang="ko-KR" altLang="en-US" sz="700" dirty="0"/>
              <a:t>구조형식</a:t>
            </a:r>
            <a:r>
              <a:rPr lang="en-US" altLang="ko-KR" sz="700" dirty="0"/>
              <a:t>, </a:t>
            </a:r>
            <a:r>
              <a:rPr lang="ko-KR" altLang="en-US" sz="700" dirty="0"/>
              <a:t>부재 상태</a:t>
            </a:r>
            <a:r>
              <a:rPr lang="en-US" altLang="ko-KR" sz="700" dirty="0"/>
              <a:t>, </a:t>
            </a:r>
            <a:r>
              <a:rPr lang="ko-KR" altLang="en-US" sz="700" dirty="0"/>
              <a:t>시공방법 등을 종합적으로 검토하여 구조적 안전성을 분석합니다</a:t>
            </a:r>
            <a:r>
              <a:rPr lang="en-US" altLang="ko-KR" sz="700" dirty="0"/>
              <a:t>.</a:t>
            </a:r>
          </a:p>
          <a:p>
            <a:r>
              <a:rPr lang="en-US" altLang="ko-KR" sz="700" b="1" dirty="0"/>
              <a:t>04. </a:t>
            </a:r>
            <a:r>
              <a:rPr lang="ko-KR" altLang="en-US" sz="700" b="1" dirty="0"/>
              <a:t>검토의견 정리</a:t>
            </a:r>
          </a:p>
          <a:p>
            <a:r>
              <a:rPr lang="ko-KR" altLang="en-US" sz="700" dirty="0"/>
              <a:t>보완 필요사항</a:t>
            </a:r>
            <a:r>
              <a:rPr lang="en-US" altLang="ko-KR" sz="700" dirty="0"/>
              <a:t>, </a:t>
            </a:r>
            <a:r>
              <a:rPr lang="ko-KR" altLang="en-US" sz="700" dirty="0"/>
              <a:t>위험요인</a:t>
            </a:r>
            <a:r>
              <a:rPr lang="en-US" altLang="ko-KR" sz="700" dirty="0"/>
              <a:t>, </a:t>
            </a:r>
            <a:r>
              <a:rPr lang="ko-KR" altLang="en-US" sz="700" dirty="0"/>
              <a:t>구조적 유의사항</a:t>
            </a:r>
            <a:r>
              <a:rPr lang="en-US" altLang="ko-KR" sz="700" dirty="0"/>
              <a:t>, </a:t>
            </a:r>
            <a:r>
              <a:rPr lang="ko-KR" altLang="en-US" sz="700" dirty="0"/>
              <a:t>시공 시 주의사항 등을 정리합니다</a:t>
            </a:r>
            <a:r>
              <a:rPr lang="en-US" altLang="ko-KR" sz="700" dirty="0"/>
              <a:t>.</a:t>
            </a:r>
          </a:p>
          <a:p>
            <a:r>
              <a:rPr lang="en-US" altLang="ko-KR" sz="700" b="1" dirty="0"/>
              <a:t>05. </a:t>
            </a:r>
            <a:r>
              <a:rPr lang="ko-KR" altLang="en-US" sz="700" b="1" dirty="0"/>
              <a:t>보고서 제출</a:t>
            </a:r>
          </a:p>
          <a:p>
            <a:r>
              <a:rPr lang="ko-KR" altLang="en-US" sz="700" dirty="0"/>
              <a:t>구조검토 결과</a:t>
            </a:r>
            <a:r>
              <a:rPr lang="en-US" altLang="ko-KR" sz="700" dirty="0"/>
              <a:t>, </a:t>
            </a:r>
            <a:r>
              <a:rPr lang="ko-KR" altLang="en-US" sz="700" dirty="0"/>
              <a:t>산출근거</a:t>
            </a:r>
            <a:r>
              <a:rPr lang="en-US" altLang="ko-KR" sz="700" dirty="0"/>
              <a:t>, </a:t>
            </a:r>
            <a:r>
              <a:rPr lang="ko-KR" altLang="en-US" sz="700" dirty="0"/>
              <a:t>검토의견</a:t>
            </a:r>
            <a:r>
              <a:rPr lang="en-US" altLang="ko-KR" sz="700" dirty="0"/>
              <a:t>, </a:t>
            </a:r>
            <a:r>
              <a:rPr lang="ko-KR" altLang="en-US" sz="700" dirty="0"/>
              <a:t>도면 및 사진자료를 포함한 구조검토 보고서를 </a:t>
            </a:r>
            <a:r>
              <a:rPr lang="ko-KR" altLang="en-US" sz="600" dirty="0"/>
              <a:t>제출합니다</a:t>
            </a:r>
            <a:r>
              <a:rPr lang="en-US" altLang="ko-KR" sz="700" dirty="0"/>
              <a:t>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BBA4C5E-4DD0-7F33-2268-D190AA697AEA}"/>
              </a:ext>
            </a:extLst>
          </p:cNvPr>
          <p:cNvSpPr/>
          <p:nvPr/>
        </p:nvSpPr>
        <p:spPr>
          <a:xfrm>
            <a:off x="771255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원가계산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</p:spTree>
    <p:extLst>
      <p:ext uri="{BB962C8B-B14F-4D97-AF65-F5344CB8AC3E}">
        <p14:creationId xmlns:p14="http://schemas.microsoft.com/office/powerpoint/2010/main" val="3142871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0E3B2-090E-85A0-2D2C-6B9BEF87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75067A-E60C-DC52-7EFE-C153B224D35D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2C9222-E765-3EE7-8FF4-0FD2DB2D2865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사업실적</a:t>
            </a:r>
            <a:r>
              <a:rPr lang="en-US" altLang="ko-KR" sz="1200" b="1" dirty="0"/>
              <a:t> – </a:t>
            </a:r>
            <a:r>
              <a:rPr lang="ko-KR" altLang="en-US" sz="1200" b="1" dirty="0"/>
              <a:t>공통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89B7DA-FC2A-5BFE-997B-CD1A57E68720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4AFBCF-F8A1-BB0E-CB86-9979667C899D}"/>
              </a:ext>
            </a:extLst>
          </p:cNvPr>
          <p:cNvSpPr/>
          <p:nvPr/>
        </p:nvSpPr>
        <p:spPr>
          <a:xfrm>
            <a:off x="443388" y="1122528"/>
            <a:ext cx="11305223" cy="18873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적절한 이미지 사용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C23A11-AC03-018A-2D05-DA4616F47CD4}"/>
              </a:ext>
            </a:extLst>
          </p:cNvPr>
          <p:cNvSpPr/>
          <p:nvPr/>
        </p:nvSpPr>
        <p:spPr>
          <a:xfrm>
            <a:off x="443388" y="1122528"/>
            <a:ext cx="11305222" cy="1887372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사업실적</a:t>
            </a:r>
            <a:endParaRPr lang="en-US" altLang="ko-KR" sz="2000" dirty="0"/>
          </a:p>
          <a:p>
            <a:pPr algn="ctr"/>
            <a:endParaRPr lang="en-US" altLang="ko-KR" sz="800" dirty="0"/>
          </a:p>
          <a:p>
            <a:pPr algn="ctr"/>
            <a:r>
              <a:rPr lang="en-US" altLang="ko-KR" sz="1200" dirty="0"/>
              <a:t>PERFORMANCE</a:t>
            </a:r>
            <a:endParaRPr lang="ko-KR" altLang="en-US" sz="12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D46259A-B062-20F6-AD61-CBD0BE17D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341" y="163956"/>
            <a:ext cx="1401404" cy="65961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E39A98A-CC41-2F42-3C4F-81FE3C145E2E}"/>
              </a:ext>
            </a:extLst>
          </p:cNvPr>
          <p:cNvSpPr txBox="1"/>
          <p:nvPr/>
        </p:nvSpPr>
        <p:spPr>
          <a:xfrm>
            <a:off x="10141772" y="132674"/>
            <a:ext cx="587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 Ref</a:t>
            </a:r>
            <a:endParaRPr lang="ko-KR" altLang="en-US" sz="1000" b="1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866E5DC-275F-F4D6-290F-E1C1D87F06BA}"/>
              </a:ext>
            </a:extLst>
          </p:cNvPr>
          <p:cNvSpPr/>
          <p:nvPr/>
        </p:nvSpPr>
        <p:spPr>
          <a:xfrm>
            <a:off x="443388" y="3889159"/>
            <a:ext cx="11305222" cy="231161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소분류별 내용</a:t>
            </a:r>
            <a:endParaRPr lang="ko-KR" altLang="en-US" sz="12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3EF6C35-9BDC-CF91-2820-D70BBBF83315}"/>
              </a:ext>
            </a:extLst>
          </p:cNvPr>
          <p:cNvSpPr/>
          <p:nvPr/>
        </p:nvSpPr>
        <p:spPr>
          <a:xfrm>
            <a:off x="5393066" y="3139250"/>
            <a:ext cx="942976" cy="620559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안전진단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8054FC7-C9EA-8051-9922-D2DEC6451269}"/>
              </a:ext>
            </a:extLst>
          </p:cNvPr>
          <p:cNvSpPr/>
          <p:nvPr/>
        </p:nvSpPr>
        <p:spPr>
          <a:xfrm>
            <a:off x="6437086" y="31392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법원감정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75AA215-AF51-DF04-2A00-91C90EA62495}"/>
              </a:ext>
            </a:extLst>
          </p:cNvPr>
          <p:cNvSpPr/>
          <p:nvPr/>
        </p:nvSpPr>
        <p:spPr>
          <a:xfrm>
            <a:off x="8525126" y="3139250"/>
            <a:ext cx="1182250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건축</a:t>
            </a:r>
            <a:r>
              <a:rPr lang="en-US" altLang="ko-KR" sz="1100" b="1" dirty="0">
                <a:solidFill>
                  <a:schemeClr val="tx1"/>
                </a:solidFill>
              </a:rPr>
              <a:t>·</a:t>
            </a:r>
            <a:r>
              <a:rPr lang="ko-KR" altLang="en-US" sz="1100" b="1" dirty="0">
                <a:solidFill>
                  <a:schemeClr val="tx1"/>
                </a:solidFill>
              </a:rPr>
              <a:t>토목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구조검토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해체계획서 작성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4BEE6D6-D977-2E0E-DC0E-0420C950B4C6}"/>
              </a:ext>
            </a:extLst>
          </p:cNvPr>
          <p:cNvSpPr/>
          <p:nvPr/>
        </p:nvSpPr>
        <p:spPr>
          <a:xfrm>
            <a:off x="9892879" y="3558350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사업실적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안전진단전문기관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3DE7F7-8A15-9F76-B86C-0CF5D2473B45}"/>
              </a:ext>
            </a:extLst>
          </p:cNvPr>
          <p:cNvSpPr/>
          <p:nvPr/>
        </p:nvSpPr>
        <p:spPr>
          <a:xfrm>
            <a:off x="7481106" y="31392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</a:rPr>
              <a:t>원가계산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</p:spTree>
    <p:extLst>
      <p:ext uri="{BB962C8B-B14F-4D97-AF65-F5344CB8AC3E}">
        <p14:creationId xmlns:p14="http://schemas.microsoft.com/office/powerpoint/2010/main" val="804274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B16EF-1918-3729-9459-5CFB029F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E590F1-618C-3F1D-75EB-3232F75F608C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3A1216-AD4D-3600-4B45-683A087E6A38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사업실적</a:t>
            </a:r>
            <a:r>
              <a:rPr lang="en-US" altLang="ko-KR" sz="1200" b="1" dirty="0"/>
              <a:t> – </a:t>
            </a:r>
            <a:r>
              <a:rPr lang="ko-KR" altLang="en-US" sz="1200" b="1" dirty="0"/>
              <a:t>안전진단전문기관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7827A5-0624-2534-F910-C774CB16F730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70DDA2D-C56F-FBD9-81BB-3CF8469320DA}"/>
              </a:ext>
            </a:extLst>
          </p:cNvPr>
          <p:cNvSpPr/>
          <p:nvPr/>
        </p:nvSpPr>
        <p:spPr>
          <a:xfrm>
            <a:off x="5624512" y="1158050"/>
            <a:ext cx="942976" cy="620559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안전진단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4883D4A-79FB-6C36-15D3-D5A015C9EB4B}"/>
              </a:ext>
            </a:extLst>
          </p:cNvPr>
          <p:cNvSpPr/>
          <p:nvPr/>
        </p:nvSpPr>
        <p:spPr>
          <a:xfrm>
            <a:off x="666853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법원감정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5627DD2-C342-B9B0-89D1-BC294F2C6572}"/>
              </a:ext>
            </a:extLst>
          </p:cNvPr>
          <p:cNvSpPr/>
          <p:nvPr/>
        </p:nvSpPr>
        <p:spPr>
          <a:xfrm>
            <a:off x="8756572" y="1158050"/>
            <a:ext cx="1182250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건축</a:t>
            </a:r>
            <a:r>
              <a:rPr lang="en-US" altLang="ko-KR" sz="1100" b="1" dirty="0">
                <a:solidFill>
                  <a:schemeClr val="tx1"/>
                </a:solidFill>
              </a:rPr>
              <a:t>·</a:t>
            </a:r>
            <a:r>
              <a:rPr lang="ko-KR" altLang="en-US" sz="1100" b="1" dirty="0">
                <a:solidFill>
                  <a:schemeClr val="tx1"/>
                </a:solidFill>
              </a:rPr>
              <a:t>토목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구조검토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해체계획서 작성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92B85C-873F-4C20-2668-B42CE597F695}"/>
              </a:ext>
            </a:extLst>
          </p:cNvPr>
          <p:cNvSpPr/>
          <p:nvPr/>
        </p:nvSpPr>
        <p:spPr>
          <a:xfrm>
            <a:off x="10124325" y="1577150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사업실적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안전진단전문기관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245B9E3-F3AE-0544-2834-C2B6D3FB5530}"/>
              </a:ext>
            </a:extLst>
          </p:cNvPr>
          <p:cNvSpPr/>
          <p:nvPr/>
        </p:nvSpPr>
        <p:spPr>
          <a:xfrm>
            <a:off x="7711993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</a:rPr>
              <a:t>원가계산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1BF08A5-2C30-DA79-2688-4668FF707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859" y="132674"/>
            <a:ext cx="946948" cy="7564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BD5CAB-C657-AD5A-18FF-922BD774EC98}"/>
              </a:ext>
            </a:extLst>
          </p:cNvPr>
          <p:cNvSpPr txBox="1"/>
          <p:nvPr/>
        </p:nvSpPr>
        <p:spPr>
          <a:xfrm>
            <a:off x="10141772" y="132674"/>
            <a:ext cx="587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 Ref</a:t>
            </a:r>
            <a:endParaRPr lang="ko-KR" altLang="en-US" sz="1000" b="1" dirty="0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2B3CA5D-FF8D-2DB7-6EB8-8B582C944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69238"/>
              </p:ext>
            </p:extLst>
          </p:nvPr>
        </p:nvGraphicFramePr>
        <p:xfrm>
          <a:off x="2159819" y="2578577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5242607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49680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89387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발주처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용역명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수행연도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15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53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6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299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255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969439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4C36EB-754A-95C3-7174-35B042A09683}"/>
              </a:ext>
            </a:extLst>
          </p:cNvPr>
          <p:cNvSpPr/>
          <p:nvPr/>
        </p:nvSpPr>
        <p:spPr>
          <a:xfrm>
            <a:off x="457243" y="2884237"/>
            <a:ext cx="11305222" cy="231161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실적 입력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7534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A0C9E-0F6E-39D3-559F-D3007E23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76660B-5DB4-C0DD-E273-AA98AD63131E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317DC1-8F20-AAE4-92C4-36EFFA2C4EFA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사업실적</a:t>
            </a:r>
            <a:r>
              <a:rPr lang="en-US" altLang="ko-KR" sz="1200" b="1" dirty="0"/>
              <a:t> - </a:t>
            </a:r>
            <a:r>
              <a:rPr lang="ko-KR" altLang="en-US" sz="1200" b="1" dirty="0"/>
              <a:t>법원감정전문기관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928B8F-2B5C-0F16-4D2A-753DE24B53B4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658AD57-98E1-1A00-01A4-D6D7F384176E}"/>
              </a:ext>
            </a:extLst>
          </p:cNvPr>
          <p:cNvSpPr/>
          <p:nvPr/>
        </p:nvSpPr>
        <p:spPr>
          <a:xfrm>
            <a:off x="562451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안전진단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5280A75-BAA0-D600-CF36-37F10BAEBBB6}"/>
              </a:ext>
            </a:extLst>
          </p:cNvPr>
          <p:cNvSpPr/>
          <p:nvPr/>
        </p:nvSpPr>
        <p:spPr>
          <a:xfrm>
            <a:off x="6668532" y="1158050"/>
            <a:ext cx="942976" cy="620559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법원감정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B1C6F93-4056-BD0D-CF1D-E403DE9EA27B}"/>
              </a:ext>
            </a:extLst>
          </p:cNvPr>
          <p:cNvSpPr/>
          <p:nvPr/>
        </p:nvSpPr>
        <p:spPr>
          <a:xfrm>
            <a:off x="8756572" y="1158050"/>
            <a:ext cx="1182250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건축</a:t>
            </a:r>
            <a:r>
              <a:rPr lang="en-US" altLang="ko-KR" sz="1100" b="1" dirty="0">
                <a:solidFill>
                  <a:schemeClr val="tx1"/>
                </a:solidFill>
              </a:rPr>
              <a:t>·</a:t>
            </a:r>
            <a:r>
              <a:rPr lang="ko-KR" altLang="en-US" sz="1100" b="1" dirty="0">
                <a:solidFill>
                  <a:schemeClr val="tx1"/>
                </a:solidFill>
              </a:rPr>
              <a:t>토목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구조검토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해체계획서 작성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C23CABB-FF70-0BD3-F3A2-6BB876177BC0}"/>
              </a:ext>
            </a:extLst>
          </p:cNvPr>
          <p:cNvSpPr/>
          <p:nvPr/>
        </p:nvSpPr>
        <p:spPr>
          <a:xfrm>
            <a:off x="10124325" y="1577150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사업실적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법원감정전문기관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2130F5B-D830-B37C-6C4B-A949DA110516}"/>
              </a:ext>
            </a:extLst>
          </p:cNvPr>
          <p:cNvSpPr/>
          <p:nvPr/>
        </p:nvSpPr>
        <p:spPr>
          <a:xfrm>
            <a:off x="7711993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</a:rPr>
              <a:t>원가계산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50F17B0-BF7A-C4B3-688B-B10B555F9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495913"/>
              </p:ext>
            </p:extLst>
          </p:nvPr>
        </p:nvGraphicFramePr>
        <p:xfrm>
          <a:off x="2159819" y="2578577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465">
                  <a:extLst>
                    <a:ext uri="{9D8B030D-6E8A-4147-A177-3AD203B41FA5}">
                      <a16:colId xmlns:a16="http://schemas.microsoft.com/office/drawing/2014/main" val="2852426076"/>
                    </a:ext>
                  </a:extLst>
                </a:gridCol>
                <a:gridCol w="1661651">
                  <a:extLst>
                    <a:ext uri="{9D8B030D-6E8A-4147-A177-3AD203B41FA5}">
                      <a16:colId xmlns:a16="http://schemas.microsoft.com/office/drawing/2014/main" val="1149680779"/>
                    </a:ext>
                  </a:extLst>
                </a:gridCol>
                <a:gridCol w="3771217">
                  <a:extLst>
                    <a:ext uri="{9D8B030D-6E8A-4147-A177-3AD203B41FA5}">
                      <a16:colId xmlns:a16="http://schemas.microsoft.com/office/drawing/2014/main" val="26893879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58262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법원명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사건번호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사건개요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촉탁연도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15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53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6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299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255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96943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C5924E-7BA6-AFC7-602A-FA4F4F3C484A}"/>
              </a:ext>
            </a:extLst>
          </p:cNvPr>
          <p:cNvSpPr/>
          <p:nvPr/>
        </p:nvSpPr>
        <p:spPr>
          <a:xfrm>
            <a:off x="457243" y="2884237"/>
            <a:ext cx="11305222" cy="231161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실적 입력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99031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9B3B6-E215-B0AA-DD4F-860560A5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065892-4E1B-525C-CC92-5F4822DA5158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2357E3-E7F0-37D4-8E0A-25F45F6BDA2D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사업실적</a:t>
            </a:r>
            <a:r>
              <a:rPr lang="en-US" altLang="ko-KR" sz="1200" b="1" dirty="0"/>
              <a:t> - </a:t>
            </a:r>
            <a:r>
              <a:rPr lang="ko-KR" altLang="en-US" sz="1200" b="1" dirty="0"/>
              <a:t>원가계산용역기관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372B88-8C6B-C2D3-288C-68878895E81E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BA185D-0697-D123-5AFF-537D61E4A2DE}"/>
              </a:ext>
            </a:extLst>
          </p:cNvPr>
          <p:cNvSpPr/>
          <p:nvPr/>
        </p:nvSpPr>
        <p:spPr>
          <a:xfrm>
            <a:off x="562451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안전진단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32173E7-C7E4-A315-4B1F-970F5E06BF90}"/>
              </a:ext>
            </a:extLst>
          </p:cNvPr>
          <p:cNvSpPr/>
          <p:nvPr/>
        </p:nvSpPr>
        <p:spPr>
          <a:xfrm>
            <a:off x="666853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법원감정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1E37A1-2EBA-3096-86D7-F57C6591E5CE}"/>
              </a:ext>
            </a:extLst>
          </p:cNvPr>
          <p:cNvSpPr/>
          <p:nvPr/>
        </p:nvSpPr>
        <p:spPr>
          <a:xfrm>
            <a:off x="7712552" y="1158050"/>
            <a:ext cx="942976" cy="620559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원가계산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전문기관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76588C9-2A56-96C3-EBEB-566FC79193E0}"/>
              </a:ext>
            </a:extLst>
          </p:cNvPr>
          <p:cNvSpPr/>
          <p:nvPr/>
        </p:nvSpPr>
        <p:spPr>
          <a:xfrm>
            <a:off x="8756572" y="1158050"/>
            <a:ext cx="1182250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건축</a:t>
            </a:r>
            <a:r>
              <a:rPr lang="en-US" altLang="ko-KR" sz="1100" b="1" dirty="0">
                <a:solidFill>
                  <a:schemeClr val="tx1"/>
                </a:solidFill>
              </a:rPr>
              <a:t>·</a:t>
            </a:r>
            <a:r>
              <a:rPr lang="ko-KR" altLang="en-US" sz="1100" b="1" dirty="0">
                <a:solidFill>
                  <a:schemeClr val="tx1"/>
                </a:solidFill>
              </a:rPr>
              <a:t>토목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구조검토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해체계획서 작성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C6C2A44-7CC7-8189-28E1-7BA9BE7657F5}"/>
              </a:ext>
            </a:extLst>
          </p:cNvPr>
          <p:cNvSpPr/>
          <p:nvPr/>
        </p:nvSpPr>
        <p:spPr>
          <a:xfrm>
            <a:off x="10124325" y="1577150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사업실적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원가계산용역기관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F425B17-A027-A232-16DF-13D5B6D2F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373169"/>
              </p:ext>
            </p:extLst>
          </p:nvPr>
        </p:nvGraphicFramePr>
        <p:xfrm>
          <a:off x="2159819" y="2578577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5242607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49680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89387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발주처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용역명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수행연도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15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53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6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299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255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969439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D15E963D-AE59-C534-C435-12CDBD98A738}"/>
              </a:ext>
            </a:extLst>
          </p:cNvPr>
          <p:cNvSpPr/>
          <p:nvPr/>
        </p:nvSpPr>
        <p:spPr>
          <a:xfrm>
            <a:off x="457243" y="2884237"/>
            <a:ext cx="11305222" cy="231161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실적 입력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93299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F05C8-0122-6369-9F96-C3B99AA58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8D4326-F06F-CCBE-A3E5-572FA71118F0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3B92FA-A977-FCDC-DF30-260947281882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사업실적</a:t>
            </a:r>
            <a:r>
              <a:rPr lang="en-US" altLang="ko-KR" sz="1200" b="1" dirty="0"/>
              <a:t> - </a:t>
            </a:r>
            <a:r>
              <a:rPr lang="ko-KR" altLang="en-US" sz="1200" b="1" dirty="0"/>
              <a:t>건축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토목 구조검토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E8FB224-D993-52DA-7CFF-78F491201AE1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4EEA874-5C89-6464-6F65-79CFB97F8B03}"/>
              </a:ext>
            </a:extLst>
          </p:cNvPr>
          <p:cNvSpPr/>
          <p:nvPr/>
        </p:nvSpPr>
        <p:spPr>
          <a:xfrm>
            <a:off x="562451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안전진단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22B27BF-CAE9-3A13-533D-247B651CA7E2}"/>
              </a:ext>
            </a:extLst>
          </p:cNvPr>
          <p:cNvSpPr/>
          <p:nvPr/>
        </p:nvSpPr>
        <p:spPr>
          <a:xfrm>
            <a:off x="6668532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법원감정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C0F537C-86CA-5F37-9081-B9A952B782DC}"/>
              </a:ext>
            </a:extLst>
          </p:cNvPr>
          <p:cNvSpPr/>
          <p:nvPr/>
        </p:nvSpPr>
        <p:spPr>
          <a:xfrm>
            <a:off x="8756572" y="1158050"/>
            <a:ext cx="1182250" cy="620559"/>
          </a:xfrm>
          <a:prstGeom prst="roundRect">
            <a:avLst/>
          </a:prstGeom>
          <a:solidFill>
            <a:srgbClr val="A4C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건축</a:t>
            </a:r>
            <a:r>
              <a:rPr lang="en-US" altLang="ko-KR" sz="1100" b="1" dirty="0">
                <a:solidFill>
                  <a:schemeClr val="tx1"/>
                </a:solidFill>
              </a:rPr>
              <a:t>·</a:t>
            </a:r>
            <a:r>
              <a:rPr lang="ko-KR" altLang="en-US" sz="1100" b="1" dirty="0">
                <a:solidFill>
                  <a:schemeClr val="tx1"/>
                </a:solidFill>
              </a:rPr>
              <a:t>토목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구조검토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해체계획서 작성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C2ED537-F58A-72B2-A5E5-7B6D358C1F1E}"/>
              </a:ext>
            </a:extLst>
          </p:cNvPr>
          <p:cNvSpPr/>
          <p:nvPr/>
        </p:nvSpPr>
        <p:spPr>
          <a:xfrm>
            <a:off x="10124325" y="1577150"/>
            <a:ext cx="1855731" cy="20140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사업실적 </a:t>
            </a:r>
            <a:r>
              <a:rPr lang="en-US" altLang="ko-KR" sz="800" b="1" dirty="0">
                <a:solidFill>
                  <a:schemeClr val="tx1"/>
                </a:solidFill>
              </a:rPr>
              <a:t>&gt; </a:t>
            </a:r>
            <a:r>
              <a:rPr lang="ko-KR" altLang="en-US" sz="800" b="1" dirty="0">
                <a:solidFill>
                  <a:schemeClr val="tx1"/>
                </a:solidFill>
              </a:rPr>
              <a:t>건축</a:t>
            </a:r>
            <a:r>
              <a:rPr lang="en-US" altLang="ko-KR" sz="800" b="1" dirty="0">
                <a:solidFill>
                  <a:schemeClr val="tx1"/>
                </a:solidFill>
              </a:rPr>
              <a:t>·</a:t>
            </a:r>
            <a:r>
              <a:rPr lang="ko-KR" altLang="en-US" sz="800" b="1" dirty="0">
                <a:solidFill>
                  <a:schemeClr val="tx1"/>
                </a:solidFill>
              </a:rPr>
              <a:t>토목</a:t>
            </a:r>
            <a:r>
              <a:rPr lang="en-US" altLang="ko-KR" sz="800" b="1" dirty="0">
                <a:solidFill>
                  <a:schemeClr val="tx1"/>
                </a:solidFill>
              </a:rPr>
              <a:t> </a:t>
            </a:r>
            <a:r>
              <a:rPr lang="ko-KR" altLang="en-US" sz="800" b="1" dirty="0">
                <a:solidFill>
                  <a:schemeClr val="tx1"/>
                </a:solidFill>
              </a:rPr>
              <a:t>구조검토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D38215D-8485-23DC-B8AD-7E047ECF4777}"/>
              </a:ext>
            </a:extLst>
          </p:cNvPr>
          <p:cNvSpPr/>
          <p:nvPr/>
        </p:nvSpPr>
        <p:spPr>
          <a:xfrm>
            <a:off x="7711993" y="1158050"/>
            <a:ext cx="942976" cy="6205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</a:rPr>
              <a:t>원가계산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전문기관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6121AA7-24A7-49B1-71CB-CC5DCD804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373169"/>
              </p:ext>
            </p:extLst>
          </p:nvPr>
        </p:nvGraphicFramePr>
        <p:xfrm>
          <a:off x="2159819" y="2578577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5242607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49680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89387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발주처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용역명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수행연도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15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53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6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299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255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96943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2B1601-47CF-071D-8194-4F895ACB9F77}"/>
              </a:ext>
            </a:extLst>
          </p:cNvPr>
          <p:cNvSpPr/>
          <p:nvPr/>
        </p:nvSpPr>
        <p:spPr>
          <a:xfrm>
            <a:off x="457243" y="2884237"/>
            <a:ext cx="11305222" cy="231161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실적 입력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9612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281FE-9277-ABA0-FCAB-9CC4C337A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6BD8A3-3337-B231-D572-E1E114CFDCE3}"/>
              </a:ext>
            </a:extLst>
          </p:cNvPr>
          <p:cNvSpPr txBox="1"/>
          <p:nvPr/>
        </p:nvSpPr>
        <p:spPr>
          <a:xfrm>
            <a:off x="193964" y="187099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㈜현구조엔지니어링 홈페이지 제작 기획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B1B9F8-604D-15D7-0501-B3A6A9695D1B}"/>
              </a:ext>
            </a:extLst>
          </p:cNvPr>
          <p:cNvSpPr txBox="1"/>
          <p:nvPr/>
        </p:nvSpPr>
        <p:spPr>
          <a:xfrm>
            <a:off x="193963" y="556461"/>
            <a:ext cx="5246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# </a:t>
            </a:r>
            <a:r>
              <a:rPr lang="ko-KR" altLang="en-US" sz="1200" b="1" dirty="0"/>
              <a:t>견적문의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AC5CF2-EA50-F7CF-5D6F-2B930FFC4702}"/>
              </a:ext>
            </a:extLst>
          </p:cNvPr>
          <p:cNvSpPr/>
          <p:nvPr/>
        </p:nvSpPr>
        <p:spPr>
          <a:xfrm>
            <a:off x="193963" y="1080655"/>
            <a:ext cx="11831782" cy="5220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C92A6A-97DB-DB75-5BB5-3796F78ADF4D}"/>
              </a:ext>
            </a:extLst>
          </p:cNvPr>
          <p:cNvSpPr/>
          <p:nvPr/>
        </p:nvSpPr>
        <p:spPr>
          <a:xfrm>
            <a:off x="443388" y="1122528"/>
            <a:ext cx="11305223" cy="13607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적절한 이미지 사용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65B4CD-CA43-8BD4-1744-F83039BC7E99}"/>
              </a:ext>
            </a:extLst>
          </p:cNvPr>
          <p:cNvSpPr/>
          <p:nvPr/>
        </p:nvSpPr>
        <p:spPr>
          <a:xfrm>
            <a:off x="443388" y="1122528"/>
            <a:ext cx="11305222" cy="1360754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견적문의</a:t>
            </a:r>
            <a:endParaRPr lang="en-US" altLang="ko-KR" sz="2000" dirty="0"/>
          </a:p>
          <a:p>
            <a:pPr algn="ctr"/>
            <a:endParaRPr lang="en-US" altLang="ko-KR" sz="800" dirty="0"/>
          </a:p>
          <a:p>
            <a:pPr algn="ctr"/>
            <a:r>
              <a:rPr lang="en-US" altLang="ko-KR" sz="1200" dirty="0"/>
              <a:t>INQUIRY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174497-5222-C0F3-B98E-EC35CC3125DC}"/>
              </a:ext>
            </a:extLst>
          </p:cNvPr>
          <p:cNvSpPr txBox="1"/>
          <p:nvPr/>
        </p:nvSpPr>
        <p:spPr>
          <a:xfrm>
            <a:off x="10141772" y="132674"/>
            <a:ext cx="587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# Ref</a:t>
            </a:r>
            <a:endParaRPr lang="ko-KR" altLang="en-US" sz="1000" b="1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E125AD2-6C93-3F41-3B9A-E33D2A73D5E4}"/>
              </a:ext>
            </a:extLst>
          </p:cNvPr>
          <p:cNvSpPr/>
          <p:nvPr/>
        </p:nvSpPr>
        <p:spPr>
          <a:xfrm>
            <a:off x="10596563" y="2575955"/>
            <a:ext cx="1152047" cy="1974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HOME</a:t>
            </a:r>
            <a:r>
              <a:rPr lang="ko-KR" altLang="en-US" sz="800" b="1" dirty="0">
                <a:solidFill>
                  <a:schemeClr val="tx1"/>
                </a:solidFill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</a:rPr>
              <a:t>&gt;</a:t>
            </a:r>
            <a:r>
              <a:rPr lang="ko-KR" altLang="en-US" sz="800" b="1" dirty="0">
                <a:solidFill>
                  <a:schemeClr val="tx1"/>
                </a:solidFill>
              </a:rPr>
              <a:t> 견적문의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419D0B7-9FDD-D1CE-07EE-123076A9BD66}"/>
              </a:ext>
            </a:extLst>
          </p:cNvPr>
          <p:cNvSpPr/>
          <p:nvPr/>
        </p:nvSpPr>
        <p:spPr>
          <a:xfrm flipH="1">
            <a:off x="3503822" y="2575955"/>
            <a:ext cx="5184354" cy="178248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전화 문의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TEL 070-4006-1175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FAX 0504-277-2410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E-MAIL </a:t>
            </a:r>
            <a:r>
              <a:rPr lang="en-US" altLang="ko-KR" sz="1100" b="1" dirty="0">
                <a:solidFill>
                  <a:schemeClr val="tx1"/>
                </a:solidFill>
                <a:hlinkClick r:id="rId2"/>
              </a:rPr>
              <a:t>hyuneng002@naver.com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상담 시간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월</a:t>
            </a:r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금 </a:t>
            </a:r>
            <a:r>
              <a:rPr lang="en-US" altLang="ko-KR" sz="1100" b="1" dirty="0">
                <a:solidFill>
                  <a:schemeClr val="tx1"/>
                </a:solidFill>
              </a:rPr>
              <a:t>10:00 – 16:00</a:t>
            </a:r>
          </a:p>
          <a:p>
            <a:pPr algn="ctr"/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142669-BADF-FEF4-A7EC-E74411EB8736}"/>
              </a:ext>
            </a:extLst>
          </p:cNvPr>
          <p:cNvSpPr/>
          <p:nvPr/>
        </p:nvSpPr>
        <p:spPr>
          <a:xfrm>
            <a:off x="3517677" y="4358438"/>
            <a:ext cx="5184353" cy="178248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온라인 견적문의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신청자 성명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ko-KR" altLang="en-US" sz="1100" b="1" dirty="0">
                <a:solidFill>
                  <a:schemeClr val="tx1"/>
                </a:solidFill>
              </a:rPr>
              <a:t>연락처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ko-KR" altLang="en-US" sz="1100" b="1" dirty="0">
                <a:solidFill>
                  <a:schemeClr val="tx1"/>
                </a:solidFill>
              </a:rPr>
              <a:t>견적분야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ko-KR" altLang="en-US" sz="1100" b="1" dirty="0">
                <a:solidFill>
                  <a:schemeClr val="tx1"/>
                </a:solidFill>
              </a:rPr>
              <a:t>견적내용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□ 개인정보 취급방침 동의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55A4C04-2F68-F2A0-D644-6BB010736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728859" y="115455"/>
            <a:ext cx="982052" cy="9144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D141E1-A83E-640D-0ADD-7252A7BFE69A}"/>
              </a:ext>
            </a:extLst>
          </p:cNvPr>
          <p:cNvSpPr/>
          <p:nvPr/>
        </p:nvSpPr>
        <p:spPr>
          <a:xfrm>
            <a:off x="7312400" y="5336531"/>
            <a:ext cx="3636512" cy="965008"/>
          </a:xfrm>
          <a:prstGeom prst="rect">
            <a:avLst/>
          </a:prstGeom>
          <a:solidFill>
            <a:schemeClr val="bg1">
              <a:lumMod val="5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n-US" altLang="ko-KR" sz="1200" dirty="0"/>
              <a:t>ADMIN</a:t>
            </a:r>
            <a:r>
              <a:rPr lang="ko-KR" altLang="en-US" sz="1200" dirty="0"/>
              <a:t> 페이지 등에서 확인할 수 있게 세팅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09006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2951</Words>
  <Application>Microsoft Office PowerPoint</Application>
  <PresentationFormat>와이드스크린</PresentationFormat>
  <Paragraphs>570</Paragraphs>
  <Slides>25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Arial</vt:lpstr>
      <vt:lpstr>Office 테마</vt:lpstr>
      <vt:lpstr>포장기 셸 개체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YUHEE JANG</dc:creator>
  <cp:lastModifiedBy>YUHEE JANG</cp:lastModifiedBy>
  <cp:revision>45</cp:revision>
  <dcterms:created xsi:type="dcterms:W3CDTF">2026-05-22T06:06:56Z</dcterms:created>
  <dcterms:modified xsi:type="dcterms:W3CDTF">2026-06-05T05:35:58Z</dcterms:modified>
</cp:coreProperties>
</file>